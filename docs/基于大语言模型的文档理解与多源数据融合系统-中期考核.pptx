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0"/>
  </p:notesMasterIdLst>
  <p:sldIdLst>
    <p:sldId id="256" r:id="rId3"/>
    <p:sldId id="259" r:id="rId4"/>
    <p:sldId id="268" r:id="rId5"/>
    <p:sldId id="275" r:id="rId6"/>
    <p:sldId id="266" r:id="rId7"/>
    <p:sldId id="261" r:id="rId8"/>
    <p:sldId id="278" r:id="rId9"/>
    <p:sldId id="276" r:id="rId10"/>
    <p:sldId id="262" r:id="rId11"/>
    <p:sldId id="264" r:id="rId12"/>
    <p:sldId id="281" r:id="rId13"/>
    <p:sldId id="280" r:id="rId14"/>
    <p:sldId id="265" r:id="rId15"/>
    <p:sldId id="277" r:id="rId16"/>
    <p:sldId id="270" r:id="rId17"/>
    <p:sldId id="272" r:id="rId18"/>
    <p:sldId id="273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780" autoAdjust="0"/>
  </p:normalViewPr>
  <p:slideViewPr>
    <p:cSldViewPr snapToGrid="0">
      <p:cViewPr varScale="1">
        <p:scale>
          <a:sx n="98" d="100"/>
          <a:sy n="98" d="100"/>
        </p:scale>
        <p:origin x="500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2.jpeg"/><Relationship Id="rId3" Type="http://schemas.openxmlformats.org/officeDocument/2006/relationships/image" Target="../media/image2.jpeg"/><Relationship Id="rId7" Type="http://schemas.openxmlformats.org/officeDocument/2006/relationships/image" Target="../media/image16.svg"/><Relationship Id="rId12" Type="http://schemas.openxmlformats.org/officeDocument/2006/relationships/image" Target="../media/image2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svg"/><Relationship Id="rId11" Type="http://schemas.openxmlformats.org/officeDocument/2006/relationships/image" Target="../media/image20.jpeg"/><Relationship Id="rId5" Type="http://schemas.openxmlformats.org/officeDocument/2006/relationships/image" Target="../media/image14.svg"/><Relationship Id="rId10" Type="http://schemas.openxmlformats.org/officeDocument/2006/relationships/image" Target="../media/image19.jpeg"/><Relationship Id="rId4" Type="http://schemas.openxmlformats.org/officeDocument/2006/relationships/image" Target="../media/image13.svg"/><Relationship Id="rId9" Type="http://schemas.openxmlformats.org/officeDocument/2006/relationships/image" Target="../media/image18.jpeg"/><Relationship Id="rId1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svg"/><Relationship Id="rId5" Type="http://schemas.openxmlformats.org/officeDocument/2006/relationships/image" Target="../media/image4.svg"/><Relationship Id="rId4" Type="http://schemas.openxmlformats.org/officeDocument/2006/relationships/image" Target="../media/image2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.jpe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10" Type="http://schemas.openxmlformats.org/officeDocument/2006/relationships/image" Target="../media/image12.pn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5" Type="http://schemas.openxmlformats.org/officeDocument/2006/relationships/image" Target="../media/image12.png"/><Relationship Id="rId4" Type="http://schemas.openxmlformats.org/officeDocument/2006/relationships/image" Target="../media/image3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8.sv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38.svg"/><Relationship Id="rId10" Type="http://schemas.openxmlformats.org/officeDocument/2006/relationships/image" Target="../media/image41.png"/><Relationship Id="rId4" Type="http://schemas.openxmlformats.org/officeDocument/2006/relationships/image" Target="../media/image37.svg"/><Relationship Id="rId9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jpe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jpe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6.svg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6.png"/><Relationship Id="rId5" Type="http://schemas.openxmlformats.org/officeDocument/2006/relationships/image" Target="../media/image55.svg"/><Relationship Id="rId4" Type="http://schemas.openxmlformats.org/officeDocument/2006/relationships/image" Target="../media/image54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2.jpeg"/><Relationship Id="rId7" Type="http://schemas.openxmlformats.org/officeDocument/2006/relationships/image" Target="../media/image6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9.svg"/><Relationship Id="rId5" Type="http://schemas.openxmlformats.org/officeDocument/2006/relationships/image" Target="../media/image58.svg"/><Relationship Id="rId4" Type="http://schemas.openxmlformats.org/officeDocument/2006/relationships/image" Target="../media/image57.svg"/><Relationship Id="rId9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12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jpeg"/><Relationship Id="rId7" Type="http://schemas.openxmlformats.org/officeDocument/2006/relationships/image" Target="../media/image70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9.svg"/><Relationship Id="rId5" Type="http://schemas.openxmlformats.org/officeDocument/2006/relationships/image" Target="../media/image68.svg"/><Relationship Id="rId4" Type="http://schemas.openxmlformats.org/officeDocument/2006/relationships/image" Target="../media/image67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71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1905000"/>
            <a:ext cx="1016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基于大语言模型的文档理解</a:t>
            </a:r>
            <a:b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与多源数据融合系统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810000"/>
            <a:ext cx="1016000" cy="762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4318000"/>
            <a:ext cx="889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dirty="0">
                <a:solidFill>
                  <a:srgbClr val="2DD4BF"/>
                </a:solidFill>
                <a:latin typeface="Noto Sans SC"/>
                <a:ea typeface="Noto Sans SC"/>
                <a:sym typeface="Noto Sans SC"/>
              </a:rPr>
              <a:t>2351289</a:t>
            </a:r>
            <a:r>
              <a:rPr lang="zh-CN" altLang="en-US" sz="3200" b="1" dirty="0">
                <a:solidFill>
                  <a:srgbClr val="2DD4BF"/>
                </a:solidFill>
                <a:latin typeface="Noto Sans SC"/>
                <a:ea typeface="Noto Sans SC"/>
                <a:sym typeface="Noto Sans SC"/>
              </a:rPr>
              <a:t>周慧星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项目概述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66800" y="1828800"/>
            <a:ext cx="4597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▍ 项目目标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66800" y="2413000"/>
            <a:ext cx="4597400" cy="889000"/>
          </a:xfrm>
          <a:prstGeom prst="roundRect">
            <a:avLst>
              <a:gd name="adj" fmla="val 8571"/>
            </a:avLst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193800" y="2540000"/>
            <a:ext cx="4343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0F766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构建一套基于LLM的文档智能处理系统，打通从文档解析、处理到应用的全链路，实现业务流程的高度自动化。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3556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35306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多格式支持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兼容 DOCX/PDF/TXT/MD/XLSX 等主流文档类型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4572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45466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自然语言驱动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无需复杂指令，通过自然语言对话完成文档编辑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800" y="5461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54356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流程自动化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提供可视化工作流编排能力，支持自定义任务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29000" y="3556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3886200" y="35306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智能信息提取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自动识别关键实体信息，并支持标准化JSON输出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29000" y="45720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3886200" y="45466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数据融合与应用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实现数据智能筛选，自动完成各类报表模板填充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29000" y="5461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3886200" y="54356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技术开放性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模块化设计，支持多种开源/闭源LLM模型快速接入</a:t>
            </a:r>
          </a:p>
        </p:txBody>
      </p:sp>
      <p:sp>
        <p:nvSpPr>
          <p:cNvPr id="20" name="AutoShape 20"/>
          <p:cNvSpPr/>
          <p:nvPr/>
        </p:nvSpPr>
        <p:spPr>
          <a:xfrm>
            <a:off x="6223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527800" y="1828800"/>
            <a:ext cx="4597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▍ 项目意义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527800" y="2540000"/>
            <a:ext cx="45974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18300" y="2794000"/>
            <a:ext cx="457200" cy="4572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366000" y="27305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显著的应用价值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极大释放人力资源，预计缩短人工处理时间80%以上，显著降低企业运营成本，提升业务响应速度。</a:t>
            </a:r>
          </a:p>
        </p:txBody>
      </p:sp>
      <p:sp>
        <p:nvSpPr>
          <p:cNvPr id="25" name="AutoShape 25"/>
          <p:cNvSpPr/>
          <p:nvPr/>
        </p:nvSpPr>
        <p:spPr>
          <a:xfrm>
            <a:off x="6527800" y="3810000"/>
            <a:ext cx="45974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18300" y="4064000"/>
            <a:ext cx="457200" cy="4572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366000" y="40005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可复用的技术价值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探索并验证了大语言模型在垂直领域的工程化落地路径，沉淀的技术方案可快速复用于同类文档处理项目。</a:t>
            </a:r>
          </a:p>
        </p:txBody>
      </p:sp>
      <p:sp>
        <p:nvSpPr>
          <p:cNvPr id="28" name="AutoShape 28"/>
          <p:cNvSpPr/>
          <p:nvPr/>
        </p:nvSpPr>
        <p:spPr>
          <a:xfrm>
            <a:off x="6527800" y="5080000"/>
            <a:ext cx="45974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18300" y="5334000"/>
            <a:ext cx="457200" cy="4572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7366000" y="52705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宝贵的学术价值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积累了丰富的系统设计经验，为文档理解、信息抽取等NLP前沿研究方向提供了真实的工业级实践参考。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51695343-605A-FCD0-0C10-72731088450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38028" y="0"/>
            <a:ext cx="1813798" cy="4909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系统架构设计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032000" cy="3937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2032000" cy="889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18288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70000" y="1778000"/>
            <a:ext cx="139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前端层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 Vue 3 框架</a:t>
            </a:r>
          </a:p>
        </p:txBody>
      </p:sp>
      <p:sp>
        <p:nvSpPr>
          <p:cNvPr id="8" name="AutoShape 8"/>
          <p:cNvSpPr/>
          <p:nvPr/>
        </p:nvSpPr>
        <p:spPr>
          <a:xfrm>
            <a:off x="889000" y="2794000"/>
            <a:ext cx="1778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核心功能模块：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智能对话交互界面</a:t>
            </a:r>
          </a:p>
          <a:p>
            <a:pPr indent="0" algn="l">
              <a:lnSpc>
                <a:spcPct val="116666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可视化工作流编辑器</a:t>
            </a:r>
          </a:p>
          <a:p>
            <a:pPr indent="0" algn="l">
              <a:lnSpc>
                <a:spcPct val="116666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企业级文档库</a:t>
            </a:r>
          </a:p>
          <a:p>
            <a:pPr indent="0" algn="l">
              <a:lnSpc>
                <a:spcPct val="116666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统一文件管理器</a:t>
            </a:r>
          </a:p>
        </p:txBody>
      </p:sp>
      <p:sp>
        <p:nvSpPr>
          <p:cNvPr id="9" name="AutoShape 9"/>
          <p:cNvSpPr/>
          <p:nvPr/>
        </p:nvSpPr>
        <p:spPr>
          <a:xfrm>
            <a:off x="3048000" y="1651000"/>
            <a:ext cx="2032000" cy="3937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3048000" y="1651000"/>
            <a:ext cx="2032000" cy="889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00400" y="18288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556000" y="1778000"/>
            <a:ext cx="139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API 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FastAPI 高性能服务</a:t>
            </a:r>
          </a:p>
        </p:txBody>
      </p:sp>
      <p:sp>
        <p:nvSpPr>
          <p:cNvPr id="13" name="AutoShape 13"/>
          <p:cNvSpPr/>
          <p:nvPr/>
        </p:nvSpPr>
        <p:spPr>
          <a:xfrm>
            <a:off x="3175000" y="2794000"/>
            <a:ext cx="1778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服务接口与网关：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身份认证与权限管理</a:t>
            </a:r>
          </a:p>
          <a:p>
            <a:pPr indent="0" algn="l">
              <a:lnSpc>
                <a:spcPct val="116666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多用户会话管理</a:t>
            </a:r>
          </a:p>
          <a:p>
            <a:pPr indent="0" algn="l">
              <a:lnSpc>
                <a:spcPct val="116666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工作流与Agent调度接口</a:t>
            </a:r>
          </a:p>
          <a:p>
            <a:pPr indent="0" algn="l">
              <a:lnSpc>
                <a:spcPct val="116666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文档库CRUD操作</a:t>
            </a:r>
          </a:p>
        </p:txBody>
      </p:sp>
      <p:sp>
        <p:nvSpPr>
          <p:cNvPr id="14" name="AutoShape 14"/>
          <p:cNvSpPr/>
          <p:nvPr/>
        </p:nvSpPr>
        <p:spPr>
          <a:xfrm>
            <a:off x="5334000" y="1651000"/>
            <a:ext cx="2032000" cy="3937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5334000" y="1651000"/>
            <a:ext cx="2032000" cy="889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86400" y="18288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5842000" y="1778000"/>
            <a:ext cx="139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编排层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Workflow Coordinator</a:t>
            </a:r>
          </a:p>
        </p:txBody>
      </p:sp>
      <p:sp>
        <p:nvSpPr>
          <p:cNvPr id="18" name="AutoShape 18"/>
          <p:cNvSpPr/>
          <p:nvPr/>
        </p:nvSpPr>
        <p:spPr>
          <a:xfrm>
            <a:off x="5461000" y="2794000"/>
            <a:ext cx="1778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任务中枢与控制：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复杂任务的拆解与调度</a:t>
            </a:r>
          </a:p>
          <a:p>
            <a:pPr indent="0" algn="l">
              <a:lnSpc>
                <a:spcPct val="116666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工作流状态与进度追踪</a:t>
            </a:r>
          </a:p>
          <a:p>
            <a:pPr indent="0" algn="l">
              <a:lnSpc>
                <a:spcPct val="116666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任务结果的汇聚与处理</a:t>
            </a:r>
          </a:p>
          <a:p>
            <a:pPr indent="0" algn="l">
              <a:lnSpc>
                <a:spcPct val="116666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跨Agent 协作逻辑处理</a:t>
            </a:r>
          </a:p>
        </p:txBody>
      </p:sp>
      <p:sp>
        <p:nvSpPr>
          <p:cNvPr id="19" name="AutoShape 19"/>
          <p:cNvSpPr/>
          <p:nvPr/>
        </p:nvSpPr>
        <p:spPr>
          <a:xfrm>
            <a:off x="7620000" y="1651000"/>
            <a:ext cx="2032000" cy="3937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7620000" y="1651000"/>
            <a:ext cx="2032000" cy="889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72400" y="18288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8128000" y="1778000"/>
            <a:ext cx="139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Agent 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多角色专家模型协作</a:t>
            </a:r>
          </a:p>
        </p:txBody>
      </p:sp>
      <p:sp>
        <p:nvSpPr>
          <p:cNvPr id="23" name="AutoShape 23"/>
          <p:cNvSpPr/>
          <p:nvPr/>
        </p:nvSpPr>
        <p:spPr>
          <a:xfrm>
            <a:off x="7747000" y="2794000"/>
            <a:ext cx="1778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专业执行单元：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文档Agent：编辑与摘要</a:t>
            </a:r>
          </a:p>
          <a:p>
            <a:pPr indent="0" algn="l">
              <a:lnSpc>
                <a:spcPct val="116666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提取Agent：实体信息挖掘</a:t>
            </a:r>
          </a:p>
          <a:p>
            <a:pPr indent="0" algn="l">
              <a:lnSpc>
                <a:spcPct val="116666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存储Agent：结构化入库</a:t>
            </a:r>
          </a:p>
          <a:p>
            <a:pPr indent="0" algn="l">
              <a:lnSpc>
                <a:spcPct val="116666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流程Agent：自动填表与审批</a:t>
            </a:r>
          </a:p>
        </p:txBody>
      </p:sp>
      <p:sp>
        <p:nvSpPr>
          <p:cNvPr id="24" name="AutoShape 24"/>
          <p:cNvSpPr/>
          <p:nvPr/>
        </p:nvSpPr>
        <p:spPr>
          <a:xfrm>
            <a:off x="9906000" y="1651000"/>
            <a:ext cx="2032000" cy="3937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9906000" y="1651000"/>
            <a:ext cx="2032000" cy="889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58400" y="18288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10414000" y="1778000"/>
            <a:ext cx="139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基础支撑与存储</a:t>
            </a:r>
          </a:p>
        </p:txBody>
      </p:sp>
      <p:sp>
        <p:nvSpPr>
          <p:cNvPr id="28" name="AutoShape 28"/>
          <p:cNvSpPr/>
          <p:nvPr/>
        </p:nvSpPr>
        <p:spPr>
          <a:xfrm>
            <a:off x="10033000" y="2794000"/>
            <a:ext cx="1778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底层资源与设施：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PostgreSQL：关系型业务数据</a:t>
            </a:r>
          </a:p>
          <a:p>
            <a:pPr indent="0" algn="l">
              <a:lnSpc>
                <a:spcPct val="116666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对象存储：非结构化文档文件</a:t>
            </a:r>
          </a:p>
          <a:p>
            <a:pPr indent="0" algn="l">
              <a:lnSpc>
                <a:spcPct val="116666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LLM 服务：大模型能力底座</a:t>
            </a:r>
          </a:p>
          <a:p>
            <a:pPr indent="0" algn="l">
              <a:lnSpc>
                <a:spcPct val="116666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分布式缓存：提升响应性能</a:t>
            </a:r>
          </a:p>
        </p:txBody>
      </p:sp>
      <p:sp>
        <p:nvSpPr>
          <p:cNvPr id="29" name="AutoShape 29"/>
          <p:cNvSpPr/>
          <p:nvPr/>
        </p:nvSpPr>
        <p:spPr>
          <a:xfrm>
            <a:off x="762000" y="5842000"/>
            <a:ext cx="11176000" cy="762000"/>
          </a:xfrm>
          <a:prstGeom prst="roundRect">
            <a:avLst>
              <a:gd name="adj" fmla="val 20000"/>
            </a:avLst>
          </a:prstGeom>
          <a:solidFill>
            <a:srgbClr val="F3F4F6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889000" y="58420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💡 架构优势总结：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职责分明的“编排-执行”分离模式，实现了业务逻辑的高度解耦，显著提升系统的可扩展性与维护性。</a:t>
            </a:r>
            <a:endParaRPr lang="en-US" sz="1100"/>
          </a:p>
        </p:txBody>
      </p:sp>
      <p:pic>
        <p:nvPicPr>
          <p:cNvPr id="31" name="Picture 6"/>
          <p:cNvPicPr>
            <a:picLocks noChangeAspect="1"/>
          </p:cNvPicPr>
          <p:nvPr/>
        </p:nvPicPr>
        <p:blipFill>
          <a:blip r:embed="rId9"/>
          <a:srcRect t="7142" b="7142"/>
          <a:stretch>
            <a:fillRect/>
          </a:stretch>
        </p:blipFill>
        <p:spPr>
          <a:xfrm>
            <a:off x="1175986" y="4129071"/>
            <a:ext cx="1049753" cy="89978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2" name="Picture 16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7937500" y="4743450"/>
            <a:ext cx="698500" cy="698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3" name="Picture 19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3714750" y="4286250"/>
            <a:ext cx="698500" cy="698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4" name="Picture 22"/>
          <p:cNvPicPr>
            <a:picLocks noChangeAspect="1"/>
          </p:cNvPicPr>
          <p:nvPr/>
        </p:nvPicPr>
        <p:blipFill>
          <a:blip r:embed="rId12"/>
          <a:srcRect l="1674" r="1674"/>
          <a:stretch>
            <a:fillRect/>
          </a:stretch>
        </p:blipFill>
        <p:spPr>
          <a:xfrm>
            <a:off x="10461561" y="4635500"/>
            <a:ext cx="698500" cy="698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5" name="Picture 26"/>
          <p:cNvPicPr>
            <a:picLocks noChangeAspect="1"/>
          </p:cNvPicPr>
          <p:nvPr/>
        </p:nvPicPr>
        <p:blipFill>
          <a:blip r:embed="rId13"/>
          <a:srcRect t="35714" b="35714"/>
          <a:stretch>
            <a:fillRect/>
          </a:stretch>
        </p:blipFill>
        <p:spPr>
          <a:xfrm>
            <a:off x="7778196" y="4235450"/>
            <a:ext cx="1778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FBE09ADF-7C80-7D52-5EE0-57CC31E0E2E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38028" y="0"/>
            <a:ext cx="1813798" cy="4909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utoShape 8">
            <a:extLst>
              <a:ext uri="{FF2B5EF4-FFF2-40B4-BE49-F238E27FC236}">
                <a16:creationId xmlns:a16="http://schemas.microsoft.com/office/drawing/2014/main" id="{EEDD8EF4-0D3A-292E-AC22-C2D48C50A0CB}"/>
              </a:ext>
            </a:extLst>
          </p:cNvPr>
          <p:cNvSpPr/>
          <p:nvPr/>
        </p:nvSpPr>
        <p:spPr>
          <a:xfrm>
            <a:off x="309744" y="5333233"/>
            <a:ext cx="2629837" cy="1105582"/>
          </a:xfrm>
          <a:prstGeom prst="roundRect">
            <a:avLst>
              <a:gd name="adj" fmla="val 10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8">
            <a:extLst>
              <a:ext uri="{FF2B5EF4-FFF2-40B4-BE49-F238E27FC236}">
                <a16:creationId xmlns:a16="http://schemas.microsoft.com/office/drawing/2014/main" id="{DDB0FEE9-F343-BD9A-BAF2-30960C429000}"/>
              </a:ext>
            </a:extLst>
          </p:cNvPr>
          <p:cNvSpPr/>
          <p:nvPr/>
        </p:nvSpPr>
        <p:spPr>
          <a:xfrm>
            <a:off x="265420" y="3970115"/>
            <a:ext cx="2674161" cy="1105582"/>
          </a:xfrm>
          <a:prstGeom prst="roundRect">
            <a:avLst>
              <a:gd name="adj" fmla="val 10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8">
            <a:extLst>
              <a:ext uri="{FF2B5EF4-FFF2-40B4-BE49-F238E27FC236}">
                <a16:creationId xmlns:a16="http://schemas.microsoft.com/office/drawing/2014/main" id="{291A1AFE-638A-A5F1-0DD6-10E58E54ADB9}"/>
              </a:ext>
            </a:extLst>
          </p:cNvPr>
          <p:cNvSpPr/>
          <p:nvPr/>
        </p:nvSpPr>
        <p:spPr>
          <a:xfrm>
            <a:off x="309744" y="2557859"/>
            <a:ext cx="2629837" cy="1105582"/>
          </a:xfrm>
          <a:prstGeom prst="roundRect">
            <a:avLst>
              <a:gd name="adj" fmla="val 10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8">
            <a:extLst>
              <a:ext uri="{FF2B5EF4-FFF2-40B4-BE49-F238E27FC236}">
                <a16:creationId xmlns:a16="http://schemas.microsoft.com/office/drawing/2014/main" id="{42806A44-9320-D2F1-8FD8-D1CA20625E3B}"/>
              </a:ext>
            </a:extLst>
          </p:cNvPr>
          <p:cNvSpPr/>
          <p:nvPr/>
        </p:nvSpPr>
        <p:spPr>
          <a:xfrm>
            <a:off x="309744" y="1229513"/>
            <a:ext cx="2629837" cy="1105582"/>
          </a:xfrm>
          <a:prstGeom prst="roundRect">
            <a:avLst>
              <a:gd name="adj" fmla="val 10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BC1F2AA-C087-A9B0-10CF-83C0B88F7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464" y="1496860"/>
            <a:ext cx="8922614" cy="4895872"/>
          </a:xfrm>
          <a:prstGeom prst="rect">
            <a:avLst/>
          </a:prstGeom>
        </p:spPr>
      </p:pic>
      <p:sp>
        <p:nvSpPr>
          <p:cNvPr id="4" name="AutoShape 3">
            <a:extLst>
              <a:ext uri="{FF2B5EF4-FFF2-40B4-BE49-F238E27FC236}">
                <a16:creationId xmlns:a16="http://schemas.microsoft.com/office/drawing/2014/main" id="{D34EB035-6512-2DFB-D636-1FB28F09B3A6}"/>
              </a:ext>
            </a:extLst>
          </p:cNvPr>
          <p:cNvSpPr/>
          <p:nvPr/>
        </p:nvSpPr>
        <p:spPr>
          <a:xfrm>
            <a:off x="762000" y="38963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374151"/>
                </a:solidFill>
                <a:latin typeface="Noto Sans SC"/>
                <a:ea typeface="Noto Sans SC"/>
                <a:sym typeface="Noto Sans SC"/>
              </a:rPr>
              <a:t>智能对话</a:t>
            </a:r>
            <a:endParaRPr lang="en-US" sz="1100" dirty="0"/>
          </a:p>
        </p:txBody>
      </p:sp>
      <p:pic>
        <p:nvPicPr>
          <p:cNvPr id="5" name="Picture 9">
            <a:extLst>
              <a:ext uri="{FF2B5EF4-FFF2-40B4-BE49-F238E27FC236}">
                <a16:creationId xmlns:a16="http://schemas.microsoft.com/office/drawing/2014/main" id="{B654D883-C011-0B2C-1358-EED7C8488E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426" y="2604607"/>
            <a:ext cx="457200" cy="457200"/>
          </a:xfrm>
          <a:prstGeom prst="rect">
            <a:avLst/>
          </a:prstGeom>
        </p:spPr>
      </p:pic>
      <p:sp>
        <p:nvSpPr>
          <p:cNvPr id="6" name="AutoShape 10">
            <a:extLst>
              <a:ext uri="{FF2B5EF4-FFF2-40B4-BE49-F238E27FC236}">
                <a16:creationId xmlns:a16="http://schemas.microsoft.com/office/drawing/2014/main" id="{79A454EE-1BC1-A9AC-CFC9-867441D9BA52}"/>
              </a:ext>
            </a:extLst>
          </p:cNvPr>
          <p:cNvSpPr/>
          <p:nvPr/>
        </p:nvSpPr>
        <p:spPr>
          <a:xfrm>
            <a:off x="1084527" y="264192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上传资料</a:t>
            </a:r>
            <a:endParaRPr lang="en-US" sz="1100" dirty="0"/>
          </a:p>
        </p:txBody>
      </p:sp>
      <p:sp>
        <p:nvSpPr>
          <p:cNvPr id="7" name="AutoShape 11">
            <a:extLst>
              <a:ext uri="{FF2B5EF4-FFF2-40B4-BE49-F238E27FC236}">
                <a16:creationId xmlns:a16="http://schemas.microsoft.com/office/drawing/2014/main" id="{1213A41A-C6F5-BFE7-3717-B6C68C106800}"/>
              </a:ext>
            </a:extLst>
          </p:cNvPr>
          <p:cNvSpPr/>
          <p:nvPr/>
        </p:nvSpPr>
        <p:spPr>
          <a:xfrm>
            <a:off x="535701" y="3101781"/>
            <a:ext cx="209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支持多种格式文档批量上传，系统自动解析结构</a:t>
            </a:r>
            <a:endParaRPr lang="en-US" sz="1100" dirty="0"/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6FC32043-5541-E19C-E76F-4EB831EA64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2622" y="1294165"/>
            <a:ext cx="457200" cy="457200"/>
          </a:xfrm>
          <a:prstGeom prst="rect">
            <a:avLst/>
          </a:prstGeom>
        </p:spPr>
      </p:pic>
      <p:sp>
        <p:nvSpPr>
          <p:cNvPr id="9" name="AutoShape 14">
            <a:extLst>
              <a:ext uri="{FF2B5EF4-FFF2-40B4-BE49-F238E27FC236}">
                <a16:creationId xmlns:a16="http://schemas.microsoft.com/office/drawing/2014/main" id="{A3C4AED6-D3DE-70CB-E023-2519A2DB64CA}"/>
              </a:ext>
            </a:extLst>
          </p:cNvPr>
          <p:cNvSpPr/>
          <p:nvPr/>
        </p:nvSpPr>
        <p:spPr>
          <a:xfrm>
            <a:off x="1045832" y="13462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选择模式</a:t>
            </a:r>
            <a:endParaRPr lang="en-US" sz="1100" dirty="0"/>
          </a:p>
        </p:txBody>
      </p:sp>
      <p:sp>
        <p:nvSpPr>
          <p:cNvPr id="10" name="AutoShape 15">
            <a:extLst>
              <a:ext uri="{FF2B5EF4-FFF2-40B4-BE49-F238E27FC236}">
                <a16:creationId xmlns:a16="http://schemas.microsoft.com/office/drawing/2014/main" id="{A73AAC00-DDEC-65B0-8BB3-88F09DDAF95D}"/>
              </a:ext>
            </a:extLst>
          </p:cNvPr>
          <p:cNvSpPr/>
          <p:nvPr/>
        </p:nvSpPr>
        <p:spPr>
          <a:xfrm>
            <a:off x="470156" y="1757631"/>
            <a:ext cx="2317963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匹配预设的任务场景，或自定义处理逻辑</a:t>
            </a:r>
            <a:endParaRPr lang="en-US" sz="1100" dirty="0"/>
          </a:p>
        </p:txBody>
      </p:sp>
      <p:pic>
        <p:nvPicPr>
          <p:cNvPr id="11" name="Picture 17">
            <a:extLst>
              <a:ext uri="{FF2B5EF4-FFF2-40B4-BE49-F238E27FC236}">
                <a16:creationId xmlns:a16="http://schemas.microsoft.com/office/drawing/2014/main" id="{A10388E3-8F73-8423-98DF-A7DB015E84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400" y="4023749"/>
            <a:ext cx="457200" cy="457200"/>
          </a:xfrm>
          <a:prstGeom prst="rect">
            <a:avLst/>
          </a:prstGeom>
        </p:spPr>
      </p:pic>
      <p:sp>
        <p:nvSpPr>
          <p:cNvPr id="12" name="AutoShape 18">
            <a:extLst>
              <a:ext uri="{FF2B5EF4-FFF2-40B4-BE49-F238E27FC236}">
                <a16:creationId xmlns:a16="http://schemas.microsoft.com/office/drawing/2014/main" id="{5F2F2EA1-2998-8DB9-0D0D-BFFE7988BC9D}"/>
              </a:ext>
            </a:extLst>
          </p:cNvPr>
          <p:cNvSpPr/>
          <p:nvPr/>
        </p:nvSpPr>
        <p:spPr>
          <a:xfrm>
            <a:off x="1136649" y="4043203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对话意图</a:t>
            </a:r>
            <a:endParaRPr lang="en-US" sz="1100" dirty="0"/>
          </a:p>
        </p:txBody>
      </p:sp>
      <p:sp>
        <p:nvSpPr>
          <p:cNvPr id="13" name="AutoShape 19">
            <a:extLst>
              <a:ext uri="{FF2B5EF4-FFF2-40B4-BE49-F238E27FC236}">
                <a16:creationId xmlns:a16="http://schemas.microsoft.com/office/drawing/2014/main" id="{730CCADF-FE6F-754D-0AA4-B8AB28252829}"/>
              </a:ext>
            </a:extLst>
          </p:cNvPr>
          <p:cNvSpPr/>
          <p:nvPr/>
        </p:nvSpPr>
        <p:spPr>
          <a:xfrm>
            <a:off x="581388" y="4483677"/>
            <a:ext cx="209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自然语言输入具体需求，系统精准理解语义</a:t>
            </a:r>
            <a:endParaRPr lang="en-US" sz="1100" dirty="0"/>
          </a:p>
        </p:txBody>
      </p:sp>
      <p:pic>
        <p:nvPicPr>
          <p:cNvPr id="14" name="Picture 21">
            <a:extLst>
              <a:ext uri="{FF2B5EF4-FFF2-40B4-BE49-F238E27FC236}">
                <a16:creationId xmlns:a16="http://schemas.microsoft.com/office/drawing/2014/main" id="{478E494B-D616-79B7-F1FA-5BB678B95C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8632" y="5399887"/>
            <a:ext cx="457200" cy="457200"/>
          </a:xfrm>
          <a:prstGeom prst="rect">
            <a:avLst/>
          </a:prstGeom>
        </p:spPr>
      </p:pic>
      <p:sp>
        <p:nvSpPr>
          <p:cNvPr id="15" name="AutoShape 22">
            <a:extLst>
              <a:ext uri="{FF2B5EF4-FFF2-40B4-BE49-F238E27FC236}">
                <a16:creationId xmlns:a16="http://schemas.microsoft.com/office/drawing/2014/main" id="{79E22BF1-CCF7-96FE-A33C-B51B3998FAF4}"/>
              </a:ext>
            </a:extLst>
          </p:cNvPr>
          <p:cNvSpPr/>
          <p:nvPr/>
        </p:nvSpPr>
        <p:spPr>
          <a:xfrm>
            <a:off x="1234201" y="5438669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输出结果</a:t>
            </a:r>
            <a:endParaRPr lang="en-US" sz="1100" dirty="0"/>
          </a:p>
        </p:txBody>
      </p:sp>
      <p:sp>
        <p:nvSpPr>
          <p:cNvPr id="16" name="AutoShape 23">
            <a:extLst>
              <a:ext uri="{FF2B5EF4-FFF2-40B4-BE49-F238E27FC236}">
                <a16:creationId xmlns:a16="http://schemas.microsoft.com/office/drawing/2014/main" id="{F1B0D905-0491-0269-E882-0368D7393D18}"/>
              </a:ext>
            </a:extLst>
          </p:cNvPr>
          <p:cNvSpPr/>
          <p:nvPr/>
        </p:nvSpPr>
        <p:spPr>
          <a:xfrm>
            <a:off x="588760" y="5893951"/>
            <a:ext cx="209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多智能体协同处理，快速生成高质量文档结果</a:t>
            </a:r>
            <a:endParaRPr lang="en-US" sz="1100" dirty="0"/>
          </a:p>
        </p:txBody>
      </p:sp>
      <p:sp>
        <p:nvSpPr>
          <p:cNvPr id="21" name="AutoShape 6">
            <a:extLst>
              <a:ext uri="{FF2B5EF4-FFF2-40B4-BE49-F238E27FC236}">
                <a16:creationId xmlns:a16="http://schemas.microsoft.com/office/drawing/2014/main" id="{BDC48C44-A867-9644-AC10-FC782EA572F9}"/>
              </a:ext>
            </a:extLst>
          </p:cNvPr>
          <p:cNvSpPr/>
          <p:nvPr/>
        </p:nvSpPr>
        <p:spPr>
          <a:xfrm>
            <a:off x="3527589" y="583053"/>
            <a:ext cx="7902411" cy="545696"/>
          </a:xfrm>
          <a:prstGeom prst="roundRect">
            <a:avLst>
              <a:gd name="adj" fmla="val 13333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2DD4BF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7">
            <a:extLst>
              <a:ext uri="{FF2B5EF4-FFF2-40B4-BE49-F238E27FC236}">
                <a16:creationId xmlns:a16="http://schemas.microsoft.com/office/drawing/2014/main" id="{08A91707-C588-B45D-BCAE-16647436C51A}"/>
              </a:ext>
            </a:extLst>
          </p:cNvPr>
          <p:cNvSpPr/>
          <p:nvPr/>
        </p:nvSpPr>
        <p:spPr>
          <a:xfrm>
            <a:off x="3710814" y="674002"/>
            <a:ext cx="8968942" cy="36379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将复杂任务动态分解为</a:t>
            </a:r>
            <a:r>
              <a:rPr 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AI </a:t>
            </a:r>
            <a:r>
              <a:rPr lang="en-US" sz="1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可执行的动作序列，通过多智能体协同闭环处理</a:t>
            </a:r>
            <a:r>
              <a:rPr 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E1C0852-3BB7-76A1-A64B-A65AD76682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8028" y="0"/>
            <a:ext cx="1813798" cy="49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332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84115" y="375076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对话交互与文档理解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2946315" y="3117211"/>
            <a:ext cx="2476500" cy="1587500"/>
          </a:xfrm>
          <a:prstGeom prst="roundRect">
            <a:avLst>
              <a:gd name="adj" fmla="val 64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58826C61-4EF1-E3BC-5590-CA52F6AB11C3}"/>
              </a:ext>
            </a:extLst>
          </p:cNvPr>
          <p:cNvGrpSpPr/>
          <p:nvPr/>
        </p:nvGrpSpPr>
        <p:grpSpPr>
          <a:xfrm>
            <a:off x="215815" y="1472561"/>
            <a:ext cx="5207000" cy="5016500"/>
            <a:chOff x="762000" y="1524000"/>
            <a:chExt cx="5207000" cy="5016500"/>
          </a:xfrm>
        </p:grpSpPr>
        <p:sp>
          <p:nvSpPr>
            <p:cNvPr id="4" name="AutoShape 4"/>
            <p:cNvSpPr/>
            <p:nvPr/>
          </p:nvSpPr>
          <p:spPr>
            <a:xfrm>
              <a:off x="762000" y="1524000"/>
              <a:ext cx="5207000" cy="1397000"/>
            </a:xfrm>
            <a:prstGeom prst="roundRect">
              <a:avLst>
                <a:gd name="adj" fmla="val 7272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pic>
          <p:nvPicPr>
            <p:cNvPr id="5" name="Picture 5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52500" y="1841500"/>
              <a:ext cx="508000" cy="508000"/>
            </a:xfrm>
            <a:prstGeom prst="rect">
              <a:avLst/>
            </a:prstGeom>
          </p:spPr>
        </p:pic>
        <p:sp>
          <p:nvSpPr>
            <p:cNvPr id="6" name="AutoShape 6"/>
            <p:cNvSpPr/>
            <p:nvPr/>
          </p:nvSpPr>
          <p:spPr>
            <a:xfrm>
              <a:off x="1651000" y="1714500"/>
              <a:ext cx="4064000" cy="1016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1" i="0" u="none" strike="noStrike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功能概述</a:t>
              </a:r>
              <a:endParaRPr lang="en-US" sz="1100"/>
            </a:p>
            <a:p>
              <a:pPr indent="0" algn="l">
                <a:lnSpc>
                  <a:spcPct val="116666"/>
                </a:lnSpc>
              </a:pPr>
              <a:r>
                <a:rPr lang="en-US" sz="1300" b="0" i="0" u="none" strike="noStrike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提供一个智能对话界面，用户可通过自然语言与系统交互，实现基于文档内容的精准问答、系统操作引导等功能，降低使用门槛，提升操作效率。</a:t>
              </a:r>
            </a:p>
          </p:txBody>
        </p:sp>
        <p:sp>
          <p:nvSpPr>
            <p:cNvPr id="7" name="AutoShape 7"/>
            <p:cNvSpPr/>
            <p:nvPr/>
          </p:nvSpPr>
          <p:spPr>
            <a:xfrm>
              <a:off x="762000" y="3175000"/>
              <a:ext cx="2476500" cy="1587500"/>
            </a:xfrm>
            <a:prstGeom prst="roundRect">
              <a:avLst>
                <a:gd name="adj" fmla="val 640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pic>
          <p:nvPicPr>
            <p:cNvPr id="8" name="Picture 8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52500" y="3365500"/>
              <a:ext cx="355600" cy="355600"/>
            </a:xfrm>
            <a:prstGeom prst="rect">
              <a:avLst/>
            </a:prstGeom>
          </p:spPr>
        </p:pic>
        <p:sp>
          <p:nvSpPr>
            <p:cNvPr id="9" name="AutoShape 9"/>
            <p:cNvSpPr/>
            <p:nvPr/>
          </p:nvSpPr>
          <p:spPr>
            <a:xfrm>
              <a:off x="1397000" y="3327400"/>
              <a:ext cx="1714500" cy="1206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600" b="1" i="0" u="none" strike="noStrike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多会话管理</a:t>
              </a:r>
              <a:endParaRPr lang="en-US" sz="1100"/>
            </a:p>
            <a:p>
              <a:pPr indent="0" algn="l">
                <a:lnSpc>
                  <a:spcPct val="108333"/>
                </a:lnSpc>
                <a:spcBef>
                  <a:spcPts val="800"/>
                </a:spcBef>
              </a:pPr>
              <a:r>
                <a:rPr lang="en-US" sz="1200" b="0" i="0" u="none" strike="noStrike">
                  <a:solidFill>
                    <a:srgbClr val="6B728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支持快速创建、切换及独立管理多个对话会话，满足多任务并行处理需求。</a:t>
              </a:r>
            </a:p>
          </p:txBody>
        </p:sp>
        <p:pic>
          <p:nvPicPr>
            <p:cNvPr id="11" name="Picture 11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683000" y="3365500"/>
              <a:ext cx="355600" cy="355600"/>
            </a:xfrm>
            <a:prstGeom prst="rect">
              <a:avLst/>
            </a:prstGeom>
          </p:spPr>
        </p:pic>
        <p:sp>
          <p:nvSpPr>
            <p:cNvPr id="12" name="AutoShape 12"/>
            <p:cNvSpPr/>
            <p:nvPr/>
          </p:nvSpPr>
          <p:spPr>
            <a:xfrm>
              <a:off x="4127500" y="3327400"/>
              <a:ext cx="1714500" cy="1206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600" b="1" i="0" u="none" strike="noStrike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文档上下文理解</a:t>
              </a:r>
              <a:endParaRPr lang="en-US" sz="1100"/>
            </a:p>
            <a:p>
              <a:pPr indent="0" algn="l">
                <a:lnSpc>
                  <a:spcPct val="108333"/>
                </a:lnSpc>
                <a:spcBef>
                  <a:spcPts val="800"/>
                </a:spcBef>
              </a:pPr>
              <a:r>
                <a:rPr lang="en-US" sz="1200" b="0" i="0" u="none" strike="noStrike">
                  <a:solidFill>
                    <a:srgbClr val="6B728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上传文档后，系统深度理解上下文，精准回答各类问题，成为您专属的“文档专家”。</a:t>
              </a:r>
            </a:p>
          </p:txBody>
        </p:sp>
        <p:sp>
          <p:nvSpPr>
            <p:cNvPr id="13" name="AutoShape 13"/>
            <p:cNvSpPr/>
            <p:nvPr/>
          </p:nvSpPr>
          <p:spPr>
            <a:xfrm>
              <a:off x="762000" y="4953000"/>
              <a:ext cx="2476500" cy="1587500"/>
            </a:xfrm>
            <a:prstGeom prst="roundRect">
              <a:avLst>
                <a:gd name="adj" fmla="val 640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pic>
          <p:nvPicPr>
            <p:cNvPr id="14" name="Picture 14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52500" y="5143500"/>
              <a:ext cx="355600" cy="355600"/>
            </a:xfrm>
            <a:prstGeom prst="rect">
              <a:avLst/>
            </a:prstGeom>
          </p:spPr>
        </p:pic>
        <p:sp>
          <p:nvSpPr>
            <p:cNvPr id="15" name="AutoShape 15"/>
            <p:cNvSpPr/>
            <p:nvPr/>
          </p:nvSpPr>
          <p:spPr>
            <a:xfrm>
              <a:off x="1397000" y="5105400"/>
              <a:ext cx="1714500" cy="1206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600" b="1" i="0" u="none" strike="noStrike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流式输出</a:t>
              </a:r>
              <a:endParaRPr lang="en-US" sz="1100"/>
            </a:p>
            <a:p>
              <a:pPr indent="0" algn="l">
                <a:lnSpc>
                  <a:spcPct val="108333"/>
                </a:lnSpc>
                <a:spcBef>
                  <a:spcPts val="800"/>
                </a:spcBef>
              </a:pPr>
              <a:r>
                <a:rPr lang="en-US" sz="1200" b="0" i="0" u="none" strike="noStrike">
                  <a:solidFill>
                    <a:srgbClr val="6B728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LLM生成的回复以实时流式方式逐字展示，缩短等待时间，带来更自然的实时对话体验。</a:t>
              </a:r>
            </a:p>
          </p:txBody>
        </p:sp>
        <p:sp>
          <p:nvSpPr>
            <p:cNvPr id="16" name="AutoShape 16"/>
            <p:cNvSpPr/>
            <p:nvPr/>
          </p:nvSpPr>
          <p:spPr>
            <a:xfrm>
              <a:off x="3492500" y="4953000"/>
              <a:ext cx="2476500" cy="1587500"/>
            </a:xfrm>
            <a:prstGeom prst="roundRect">
              <a:avLst>
                <a:gd name="adj" fmla="val 640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pic>
          <p:nvPicPr>
            <p:cNvPr id="17" name="Picture 17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683000" y="5143500"/>
              <a:ext cx="355600" cy="355600"/>
            </a:xfrm>
            <a:prstGeom prst="rect">
              <a:avLst/>
            </a:prstGeom>
          </p:spPr>
        </p:pic>
        <p:sp>
          <p:nvSpPr>
            <p:cNvPr id="18" name="AutoShape 18"/>
            <p:cNvSpPr/>
            <p:nvPr/>
          </p:nvSpPr>
          <p:spPr>
            <a:xfrm>
              <a:off x="4127500" y="5105400"/>
              <a:ext cx="1714500" cy="1206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600" b="1" i="0" u="none" strike="noStrike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会话历史</a:t>
              </a:r>
              <a:endParaRPr lang="en-US" sz="1100"/>
            </a:p>
            <a:p>
              <a:pPr indent="0" algn="l">
                <a:lnSpc>
                  <a:spcPct val="108333"/>
                </a:lnSpc>
                <a:spcBef>
                  <a:spcPts val="800"/>
                </a:spcBef>
              </a:pPr>
              <a:r>
                <a:rPr lang="en-US" sz="1200" b="0" i="0" u="none" strike="noStrike">
                  <a:solidFill>
                    <a:srgbClr val="6B728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系统自动保存完整的交互记录，支持随时回溯历史对话，便于查阅和分析。</a:t>
              </a:r>
            </a:p>
          </p:txBody>
        </p:sp>
      </p:grpSp>
      <p:pic>
        <p:nvPicPr>
          <p:cNvPr id="20" name="图片 19">
            <a:extLst>
              <a:ext uri="{FF2B5EF4-FFF2-40B4-BE49-F238E27FC236}">
                <a16:creationId xmlns:a16="http://schemas.microsoft.com/office/drawing/2014/main" id="{20C10C55-960B-D864-B0AE-B69A8471BC7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11630" y="1654836"/>
            <a:ext cx="6646478" cy="439484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A1E1601E-2CE1-0ABE-FC56-4CFB8C16161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38028" y="0"/>
            <a:ext cx="1813798" cy="4909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3665" y="-6137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53345" y="31115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文档编辑</a:t>
            </a:r>
            <a:r>
              <a:rPr lang="en-US" sz="32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Agent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6099409" y="1102172"/>
            <a:ext cx="5207000" cy="3095209"/>
          </a:xfrm>
          <a:prstGeom prst="roundRect">
            <a:avLst>
              <a:gd name="adj" fmla="val 4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4799C734-26B0-8028-38A3-DEB05D3995B8}"/>
              </a:ext>
            </a:extLst>
          </p:cNvPr>
          <p:cNvGrpSpPr/>
          <p:nvPr/>
        </p:nvGrpSpPr>
        <p:grpSpPr>
          <a:xfrm>
            <a:off x="680345" y="1038672"/>
            <a:ext cx="10414000" cy="3302000"/>
            <a:chOff x="743590" y="1397000"/>
            <a:chExt cx="10414000" cy="3302000"/>
          </a:xfrm>
        </p:grpSpPr>
        <p:sp>
          <p:nvSpPr>
            <p:cNvPr id="4" name="AutoShape 4"/>
            <p:cNvSpPr/>
            <p:nvPr/>
          </p:nvSpPr>
          <p:spPr>
            <a:xfrm>
              <a:off x="743590" y="1397000"/>
              <a:ext cx="5207000" cy="1478687"/>
            </a:xfrm>
            <a:prstGeom prst="roundRect">
              <a:avLst>
                <a:gd name="adj" fmla="val 9230"/>
              </a:avLst>
            </a:prstGeom>
            <a:solidFill>
              <a:srgbClr val="FFFFFF">
                <a:alpha val="95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pic>
          <p:nvPicPr>
            <p:cNvPr id="5" name="Picture 5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7590" y="1651000"/>
              <a:ext cx="406400" cy="406400"/>
            </a:xfrm>
            <a:prstGeom prst="rect">
              <a:avLst/>
            </a:prstGeom>
          </p:spPr>
        </p:pic>
        <p:sp>
          <p:nvSpPr>
            <p:cNvPr id="6" name="AutoShape 6"/>
            <p:cNvSpPr/>
            <p:nvPr/>
          </p:nvSpPr>
          <p:spPr>
            <a:xfrm>
              <a:off x="1569090" y="1587500"/>
              <a:ext cx="4064000" cy="1143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 dirty="0" err="1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功能概述</a:t>
              </a:r>
              <a:endParaRPr lang="en-US" sz="1100" dirty="0"/>
            </a:p>
            <a:p>
              <a:pPr indent="0" algn="l">
                <a:lnSpc>
                  <a:spcPct val="108333"/>
                </a:lnSpc>
                <a:spcBef>
                  <a:spcPts val="800"/>
                </a:spcBef>
              </a:pPr>
              <a:r>
                <a:rPr lang="en-US" sz="1300" b="0" i="0" u="none" strike="noStrike" dirty="0" err="1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作为连接用户与文档的智能接口，Agent</a:t>
              </a:r>
              <a:r>
                <a:rPr lang="en-US" sz="1300" b="0" i="0" u="none" strike="noStrike" dirty="0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A </a:t>
              </a:r>
              <a:r>
                <a:rPr lang="en-US" sz="1300" b="0" i="0" u="none" strike="noStrike" dirty="0" err="1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可精准理解并执行自然语言指令，覆盖</a:t>
              </a:r>
              <a:r>
                <a:rPr lang="en-US" sz="1300" b="0" i="0" u="none" strike="noStrike" dirty="0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</a:t>
              </a:r>
              <a:r>
                <a:rPr lang="en-US" sz="1300" b="0" i="0" u="none" strike="noStrike" dirty="0" err="1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Word、Markdown</a:t>
              </a:r>
              <a:r>
                <a:rPr lang="en-US" sz="1300" b="0" i="0" u="none" strike="noStrike" dirty="0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</a:t>
              </a:r>
              <a:r>
                <a:rPr lang="en-US" sz="1300" b="0" i="0" u="none" strike="noStrike" dirty="0" err="1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等主流格式，提供专业、自动化的文档编辑能力</a:t>
              </a:r>
              <a:r>
                <a:rPr lang="en-US" sz="1300" b="0" i="0" u="none" strike="noStrike" dirty="0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</a:p>
          </p:txBody>
        </p:sp>
        <p:sp>
          <p:nvSpPr>
            <p:cNvPr id="7" name="AutoShape 7"/>
            <p:cNvSpPr/>
            <p:nvPr/>
          </p:nvSpPr>
          <p:spPr>
            <a:xfrm>
              <a:off x="743590" y="3066187"/>
              <a:ext cx="5207000" cy="1524000"/>
            </a:xfrm>
            <a:prstGeom prst="roundRect">
              <a:avLst>
                <a:gd name="adj" fmla="val 8000"/>
              </a:avLst>
            </a:prstGeom>
            <a:solidFill>
              <a:srgbClr val="FFFFFF">
                <a:alpha val="95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8" name="AutoShape 8"/>
            <p:cNvSpPr/>
            <p:nvPr/>
          </p:nvSpPr>
          <p:spPr>
            <a:xfrm>
              <a:off x="997590" y="3031709"/>
              <a:ext cx="4699000" cy="152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 dirty="0" err="1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核心能力矩阵</a:t>
              </a:r>
              <a:endParaRPr lang="en-US" sz="1100" dirty="0"/>
            </a:p>
            <a:p>
              <a:pPr indent="0" algn="l">
                <a:lnSpc>
                  <a:spcPct val="125000"/>
                </a:lnSpc>
                <a:spcBef>
                  <a:spcPts val="1000"/>
                </a:spcBef>
              </a:pPr>
              <a:r>
                <a:rPr lang="en-US" sz="1300" b="0" i="0" u="none" strike="noStrike" dirty="0">
                  <a:solidFill>
                    <a:srgbClr val="2DD4B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●</a:t>
              </a:r>
              <a:r>
                <a:rPr lang="en-US" sz="1300" b="1" i="0" u="none" strike="noStrike" dirty="0" err="1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基础排版：</a:t>
              </a:r>
              <a:r>
                <a:rPr lang="en-US" sz="1200" b="0" i="0" u="none" strike="noStrike" dirty="0" err="1">
                  <a:solidFill>
                    <a:srgbClr val="6B728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字体样式、段落间距、对齐方式等底层控制</a:t>
              </a:r>
              <a:r>
                <a:rPr lang="en-US" sz="1200" b="0" i="0" u="none" strike="noStrike" dirty="0">
                  <a:solidFill>
                    <a:srgbClr val="6B728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</a:p>
            <a:p>
              <a:pPr indent="0" algn="l">
                <a:lnSpc>
                  <a:spcPct val="125000"/>
                </a:lnSpc>
              </a:pPr>
              <a:r>
                <a:rPr lang="en-US" sz="1300" b="0" i="0" u="none" strike="noStrike" dirty="0">
                  <a:solidFill>
                    <a:srgbClr val="2DD4B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●</a:t>
              </a:r>
              <a:r>
                <a:rPr lang="en-US" sz="1300" b="1" i="0" u="none" strike="noStrike" dirty="0" err="1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列表与结构：</a:t>
              </a:r>
              <a:r>
                <a:rPr lang="en-US" sz="1200" b="0" i="0" u="none" strike="noStrike" dirty="0" err="1">
                  <a:solidFill>
                    <a:srgbClr val="6B728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支持多级项目符号与自动编号，优化内容逻辑</a:t>
              </a:r>
              <a:r>
                <a:rPr lang="en-US" sz="1200" b="0" i="0" u="none" strike="noStrike" dirty="0">
                  <a:solidFill>
                    <a:srgbClr val="6B728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</a:p>
            <a:p>
              <a:pPr indent="0" algn="l">
                <a:lnSpc>
                  <a:spcPct val="125000"/>
                </a:lnSpc>
              </a:pPr>
              <a:r>
                <a:rPr lang="en-US" sz="1300" b="0" i="0" u="none" strike="noStrike" dirty="0">
                  <a:solidFill>
                    <a:srgbClr val="2DD4B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●</a:t>
              </a:r>
              <a:r>
                <a:rPr lang="en-US" sz="1300" b="1" i="0" u="none" strike="noStrike" dirty="0" err="1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元素增强：</a:t>
              </a:r>
              <a:r>
                <a:rPr lang="en-US" sz="1200" b="0" i="0" u="none" strike="noStrike" dirty="0" err="1">
                  <a:solidFill>
                    <a:srgbClr val="6B728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快速插入超链接、底纹与边框，提升文档丰富度</a:t>
              </a:r>
              <a:r>
                <a:rPr lang="en-US" sz="1200" b="0" i="0" u="none" strike="noStrike" dirty="0">
                  <a:solidFill>
                    <a:srgbClr val="6B728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</a:p>
          </p:txBody>
        </p:sp>
        <p:sp>
          <p:nvSpPr>
            <p:cNvPr id="10" name="AutoShape 10"/>
            <p:cNvSpPr/>
            <p:nvPr/>
          </p:nvSpPr>
          <p:spPr>
            <a:xfrm>
              <a:off x="6458590" y="1651000"/>
              <a:ext cx="4699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已上线的 8 项高优功能</a:t>
              </a:r>
              <a:endParaRPr lang="en-US" sz="1100"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6458590" y="2286000"/>
              <a:ext cx="2286000" cy="2413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50000"/>
                </a:lnSpc>
                <a:defRPr/>
              </a:pPr>
              <a:r>
                <a:rPr lang="en-US" sz="1300" b="0" i="0" u="none" strike="noStrike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✓ 文本斜体 / 下划线</a:t>
              </a:r>
              <a:endParaRPr lang="en-US" sz="1100"/>
            </a:p>
            <a:p>
              <a:pPr indent="0" algn="l">
                <a:lnSpc>
                  <a:spcPct val="150000"/>
                </a:lnSpc>
              </a:pPr>
              <a:r>
                <a:rPr lang="en-US" sz="1300" b="0" i="0" u="none" strike="noStrike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✓ 段前 / 段后间距设置</a:t>
              </a:r>
            </a:p>
            <a:p>
              <a:pPr indent="0" algn="l">
                <a:lnSpc>
                  <a:spcPct val="150000"/>
                </a:lnSpc>
              </a:pPr>
              <a:r>
                <a:rPr lang="en-US" sz="1300" b="0" i="0" u="none" strike="noStrike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✓ 项目符号列表转换</a:t>
              </a:r>
            </a:p>
            <a:p>
              <a:pPr indent="0" algn="l">
                <a:lnSpc>
                  <a:spcPct val="150000"/>
                </a:lnSpc>
              </a:pPr>
              <a:r>
                <a:rPr lang="en-US" sz="1300" b="0" i="0" u="none" strike="noStrike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✓ 自动编号列表生成</a:t>
              </a:r>
            </a:p>
          </p:txBody>
        </p:sp>
        <p:sp>
          <p:nvSpPr>
            <p:cNvPr id="12" name="AutoShape 12"/>
            <p:cNvSpPr/>
            <p:nvPr/>
          </p:nvSpPr>
          <p:spPr>
            <a:xfrm>
              <a:off x="8763000" y="2286000"/>
              <a:ext cx="2286000" cy="2413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50000"/>
                </a:lnSpc>
                <a:defRPr/>
              </a:pPr>
              <a:r>
                <a:rPr lang="en-US" sz="1300" b="0" i="0" u="none" strike="noStrike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✓ 段落背景底纹添加</a:t>
              </a:r>
              <a:endParaRPr lang="en-US" sz="1100"/>
            </a:p>
            <a:p>
              <a:pPr indent="0" algn="l">
                <a:lnSpc>
                  <a:spcPct val="150000"/>
                </a:lnSpc>
              </a:pPr>
              <a:r>
                <a:rPr lang="en-US" sz="1300" b="0" i="0" u="none" strike="noStrike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✓ 段落边框样式设置</a:t>
              </a:r>
            </a:p>
            <a:p>
              <a:pPr indent="0" algn="l">
                <a:lnSpc>
                  <a:spcPct val="150000"/>
                </a:lnSpc>
              </a:pPr>
              <a:r>
                <a:rPr lang="en-US" sz="1300" b="0" i="0" u="none" strike="noStrike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✓ 文档内超链接插入</a:t>
              </a:r>
            </a:p>
            <a:p>
              <a:pPr indent="0" algn="l">
                <a:lnSpc>
                  <a:spcPct val="150000"/>
                </a:lnSpc>
              </a:pPr>
              <a:r>
                <a:rPr lang="en-US" sz="1300" b="1" i="0" u="none" strike="noStrike">
                  <a:solidFill>
                    <a:srgbClr val="2DD4B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🚀 持续迭代中...</a:t>
              </a:r>
            </a:p>
          </p:txBody>
        </p: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A328496F-165A-CB54-F3DF-E9AFA40E3C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8028" y="6137"/>
            <a:ext cx="1813798" cy="49095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71C19BBB-CCF8-610D-137C-09C09A9EFD7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7199"/>
          <a:stretch>
            <a:fillRect/>
          </a:stretch>
        </p:blipFill>
        <p:spPr>
          <a:xfrm>
            <a:off x="69821" y="4340642"/>
            <a:ext cx="11860337" cy="23784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84035621-7C36-E764-2F11-58D530AB33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51" t="20335" r="58454" b="7181"/>
          <a:stretch>
            <a:fillRect/>
          </a:stretch>
        </p:blipFill>
        <p:spPr>
          <a:xfrm>
            <a:off x="3515009" y="645263"/>
            <a:ext cx="4441602" cy="6192253"/>
          </a:xfrm>
          <a:prstGeom prst="rect">
            <a:avLst/>
          </a:prstGeom>
        </p:spPr>
      </p:pic>
      <p:sp>
        <p:nvSpPr>
          <p:cNvPr id="23" name="AutoShape 7">
            <a:extLst>
              <a:ext uri="{FF2B5EF4-FFF2-40B4-BE49-F238E27FC236}">
                <a16:creationId xmlns:a16="http://schemas.microsoft.com/office/drawing/2014/main" id="{42F99065-7D4B-350D-E92E-A85D344DFD87}"/>
              </a:ext>
            </a:extLst>
          </p:cNvPr>
          <p:cNvSpPr/>
          <p:nvPr/>
        </p:nvSpPr>
        <p:spPr>
          <a:xfrm>
            <a:off x="193067" y="1242664"/>
            <a:ext cx="3578833" cy="1669319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7">
            <a:extLst>
              <a:ext uri="{FF2B5EF4-FFF2-40B4-BE49-F238E27FC236}">
                <a16:creationId xmlns:a16="http://schemas.microsoft.com/office/drawing/2014/main" id="{84045531-951A-AF90-B84D-DB403E16C659}"/>
              </a:ext>
            </a:extLst>
          </p:cNvPr>
          <p:cNvSpPr/>
          <p:nvPr/>
        </p:nvSpPr>
        <p:spPr>
          <a:xfrm>
            <a:off x="193067" y="3147297"/>
            <a:ext cx="3655116" cy="1597441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" name="AutoShape 3">
            <a:extLst>
              <a:ext uri="{FF2B5EF4-FFF2-40B4-BE49-F238E27FC236}">
                <a16:creationId xmlns:a16="http://schemas.microsoft.com/office/drawing/2014/main" id="{6F4E3AB6-7B2F-97C0-C695-1F28B11040E0}"/>
              </a:ext>
            </a:extLst>
          </p:cNvPr>
          <p:cNvSpPr/>
          <p:nvPr/>
        </p:nvSpPr>
        <p:spPr>
          <a:xfrm>
            <a:off x="553345" y="31115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文档编辑</a:t>
            </a:r>
            <a:r>
              <a:rPr lang="en-US" sz="32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Agent</a:t>
            </a:r>
            <a:endParaRPr lang="en-US" sz="11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A0297D6-CA58-35EB-5B18-59E287F58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8028" y="0"/>
            <a:ext cx="1813798" cy="49095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EB1B6AE-FDF9-C818-6EFA-963763E15C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967" t="20312" r="8538" b="6397"/>
          <a:stretch>
            <a:fillRect/>
          </a:stretch>
        </p:blipFill>
        <p:spPr>
          <a:xfrm>
            <a:off x="7710225" y="576460"/>
            <a:ext cx="4441601" cy="6261056"/>
          </a:xfrm>
          <a:prstGeom prst="rect">
            <a:avLst/>
          </a:prstGeom>
        </p:spPr>
      </p:pic>
      <p:sp>
        <p:nvSpPr>
          <p:cNvPr id="12" name="AutoShape 7">
            <a:extLst>
              <a:ext uri="{FF2B5EF4-FFF2-40B4-BE49-F238E27FC236}">
                <a16:creationId xmlns:a16="http://schemas.microsoft.com/office/drawing/2014/main" id="{816295F3-816A-82C9-D74F-3C74B94D4F9E}"/>
              </a:ext>
            </a:extLst>
          </p:cNvPr>
          <p:cNvSpPr/>
          <p:nvPr/>
        </p:nvSpPr>
        <p:spPr>
          <a:xfrm>
            <a:off x="445938" y="1303853"/>
            <a:ext cx="3176478" cy="140609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342900" indent="-342900">
              <a:lnSpc>
                <a:spcPct val="108333"/>
              </a:lnSpc>
              <a:buAutoNum type="arabicPeriod"/>
              <a:defRPr/>
            </a:pPr>
            <a:r>
              <a:rPr lang="zh-CN" altLang="en-US" dirty="0"/>
              <a:t>把所有一级标题加粗</a:t>
            </a:r>
            <a:endParaRPr lang="en-US" altLang="zh-CN" dirty="0"/>
          </a:p>
          <a:p>
            <a:pPr marL="342900" indent="-342900">
              <a:lnSpc>
                <a:spcPct val="108333"/>
              </a:lnSpc>
              <a:buAutoNum type="arabicPeriod"/>
              <a:defRPr/>
            </a:pPr>
            <a:r>
              <a:rPr lang="zh-CN" altLang="en-US" dirty="0"/>
              <a:t> 给所有一级标题自动编号</a:t>
            </a:r>
            <a:endParaRPr lang="en-US" altLang="zh-CN" dirty="0"/>
          </a:p>
          <a:p>
            <a:pPr marL="342900" indent="-342900">
              <a:lnSpc>
                <a:spcPct val="108333"/>
              </a:lnSpc>
              <a:buAutoNum type="arabicPeriod"/>
              <a:defRPr/>
            </a:pPr>
            <a:r>
              <a:rPr lang="zh-CN" altLang="en-US" dirty="0"/>
              <a:t> 在文档开头插入目录</a:t>
            </a:r>
            <a:endParaRPr lang="en-US" altLang="zh-CN" dirty="0"/>
          </a:p>
          <a:p>
            <a:pPr marL="342900" indent="-342900">
              <a:lnSpc>
                <a:spcPct val="108333"/>
              </a:lnSpc>
              <a:buAutoNum type="arabicPeriod"/>
              <a:defRPr/>
            </a:pPr>
            <a:r>
              <a:rPr lang="en-US" altLang="zh-CN" dirty="0"/>
              <a:t> </a:t>
            </a:r>
            <a:r>
              <a:rPr lang="zh-CN" altLang="en-US" dirty="0"/>
              <a:t>在页脚插入页码并居中显示 </a:t>
            </a:r>
            <a:endParaRPr lang="en-US" altLang="zh-CN" dirty="0"/>
          </a:p>
          <a:p>
            <a:pPr marL="342900" indent="-342900">
              <a:lnSpc>
                <a:spcPct val="108333"/>
              </a:lnSpc>
              <a:buAutoNum type="arabicPeriod"/>
              <a:defRPr/>
            </a:pPr>
            <a:r>
              <a:rPr lang="zh-CN" altLang="en-US" dirty="0"/>
              <a:t>在页脚追加“南京统计公报（内部版）</a:t>
            </a:r>
            <a:endParaRPr lang="en-US" sz="1100" dirty="0">
              <a:solidFill>
                <a:srgbClr val="FF0000"/>
              </a:solidFill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FD49D35-889C-729C-A8FE-129D6AA95C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446" y="3266137"/>
            <a:ext cx="3116648" cy="27520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9FEE6793-BD27-9FD1-EDF2-BD9029FA97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067" y="4302827"/>
            <a:ext cx="3528027" cy="276588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9F65430F-2CA5-307A-E118-50236B5F64CA}"/>
              </a:ext>
            </a:extLst>
          </p:cNvPr>
          <p:cNvSpPr/>
          <p:nvPr/>
        </p:nvSpPr>
        <p:spPr>
          <a:xfrm>
            <a:off x="9394450" y="6246966"/>
            <a:ext cx="1073150" cy="2998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D723767D-9BEE-04D3-5C3B-70A904205F4E}"/>
              </a:ext>
            </a:extLst>
          </p:cNvPr>
          <p:cNvCxnSpPr>
            <a:cxnSpLocks/>
          </p:cNvCxnSpPr>
          <p:nvPr/>
        </p:nvCxnSpPr>
        <p:spPr>
          <a:xfrm>
            <a:off x="1925557" y="3601689"/>
            <a:ext cx="0" cy="59566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039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364380" y="2896357"/>
            <a:ext cx="6711480" cy="3473758"/>
          </a:xfrm>
          <a:prstGeom prst="roundRect">
            <a:avLst>
              <a:gd name="adj" fmla="val 421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254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4640" y="3131019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12598" y="3160170"/>
            <a:ext cx="2390072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非结构化文档信息提取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716890" y="3791313"/>
            <a:ext cx="2824110" cy="1143106"/>
          </a:xfrm>
          <a:prstGeom prst="roundRect">
            <a:avLst>
              <a:gd name="adj" fmla="val 9090"/>
            </a:avLst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840" y="3950553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79190" y="4001353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实体与关系抽取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1115640" y="4390717"/>
            <a:ext cx="209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精准抽取人名、公司名、日期、金额等关键实体及其关联关系</a:t>
            </a:r>
            <a:r>
              <a:rPr lang="en-US" sz="11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734639" y="5073074"/>
            <a:ext cx="2806361" cy="1105945"/>
          </a:xfrm>
          <a:prstGeom prst="roundRect">
            <a:avLst>
              <a:gd name="adj" fmla="val 9090"/>
            </a:avLst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7476" y="5070752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95640" y="5070752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Schema约束与校验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1185276" y="5562685"/>
            <a:ext cx="209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用户自定义提取字段和输出格式，确保结构化数据的规范性</a:t>
            </a:r>
            <a:r>
              <a:rPr lang="en-US" sz="11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417FD818-8297-4D17-5826-C9EB10F40817}"/>
              </a:ext>
            </a:extLst>
          </p:cNvPr>
          <p:cNvGrpSpPr/>
          <p:nvPr/>
        </p:nvGrpSpPr>
        <p:grpSpPr>
          <a:xfrm>
            <a:off x="3893510" y="3816186"/>
            <a:ext cx="3004380" cy="1209531"/>
            <a:chOff x="4825999" y="3775688"/>
            <a:chExt cx="2924921" cy="1209531"/>
          </a:xfrm>
        </p:grpSpPr>
        <p:sp>
          <p:nvSpPr>
            <p:cNvPr id="15" name="AutoShape 15"/>
            <p:cNvSpPr/>
            <p:nvPr/>
          </p:nvSpPr>
          <p:spPr>
            <a:xfrm>
              <a:off x="4825999" y="3775688"/>
              <a:ext cx="2924921" cy="1152669"/>
            </a:xfrm>
            <a:prstGeom prst="roundRect">
              <a:avLst>
                <a:gd name="adj" fmla="val 9090"/>
              </a:avLst>
            </a:prstGeom>
            <a:solidFill>
              <a:srgbClr val="F0FD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pic>
          <p:nvPicPr>
            <p:cNvPr id="16" name="Picture 16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138695" y="3927566"/>
              <a:ext cx="355600" cy="355600"/>
            </a:xfrm>
            <a:prstGeom prst="rect">
              <a:avLst/>
            </a:prstGeom>
          </p:spPr>
        </p:pic>
        <p:sp>
          <p:nvSpPr>
            <p:cNvPr id="17" name="AutoShape 17"/>
            <p:cNvSpPr/>
            <p:nvPr/>
          </p:nvSpPr>
          <p:spPr>
            <a:xfrm>
              <a:off x="5745940" y="3938695"/>
              <a:ext cx="1651000" cy="304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300" b="1" i="0" u="none" strike="noStrike" dirty="0" err="1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多源数据融合</a:t>
              </a:r>
              <a:endParaRPr lang="en-US" sz="1100" dirty="0"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5048250" y="4350219"/>
              <a:ext cx="20955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indent="0" algn="l">
                <a:lnSpc>
                  <a:spcPct val="108333"/>
                </a:lnSpc>
                <a:defRPr/>
              </a:pPr>
              <a:r>
                <a:rPr lang="en-US" sz="1100" b="0" i="0" u="none" strike="noStrike" dirty="0" err="1">
                  <a:solidFill>
                    <a:srgbClr val="6B728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自动对齐来自不同文档、不同格式的异构信息，构建完整视图</a:t>
              </a:r>
              <a:r>
                <a:rPr lang="en-US" sz="1100" b="0" i="0" u="none" strike="noStrike" dirty="0">
                  <a:solidFill>
                    <a:srgbClr val="6B728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  <a:endParaRPr lang="en-US" sz="1100" dirty="0"/>
            </a:p>
          </p:txBody>
        </p:sp>
      </p:grpSp>
      <p:pic>
        <p:nvPicPr>
          <p:cNvPr id="42" name="图片 41">
            <a:extLst>
              <a:ext uri="{FF2B5EF4-FFF2-40B4-BE49-F238E27FC236}">
                <a16:creationId xmlns:a16="http://schemas.microsoft.com/office/drawing/2014/main" id="{607B4A6F-7EA5-38FC-E7CB-F4B08C66B1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8028" y="0"/>
            <a:ext cx="1813798" cy="490953"/>
          </a:xfrm>
          <a:prstGeom prst="rect">
            <a:avLst/>
          </a:prstGeom>
        </p:spPr>
      </p:pic>
      <p:sp>
        <p:nvSpPr>
          <p:cNvPr id="2" name="AutoShape 3">
            <a:extLst>
              <a:ext uri="{FF2B5EF4-FFF2-40B4-BE49-F238E27FC236}">
                <a16:creationId xmlns:a16="http://schemas.microsoft.com/office/drawing/2014/main" id="{57A86795-7DC1-0863-8031-E80DA27B72AE}"/>
              </a:ext>
            </a:extLst>
          </p:cNvPr>
          <p:cNvSpPr/>
          <p:nvPr/>
        </p:nvSpPr>
        <p:spPr>
          <a:xfrm>
            <a:off x="508000" y="41275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实体提取</a:t>
            </a:r>
            <a:r>
              <a:rPr lang="en-US" sz="32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Agent</a:t>
            </a:r>
            <a:endParaRPr lang="en-US" sz="1100" dirty="0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03CF4F7A-4203-37B6-58C9-A80FF86C1BB3}"/>
              </a:ext>
            </a:extLst>
          </p:cNvPr>
          <p:cNvGrpSpPr/>
          <p:nvPr/>
        </p:nvGrpSpPr>
        <p:grpSpPr>
          <a:xfrm>
            <a:off x="364379" y="1086426"/>
            <a:ext cx="6576469" cy="1397000"/>
            <a:chOff x="381000" y="1231900"/>
            <a:chExt cx="5541121" cy="1397000"/>
          </a:xfrm>
        </p:grpSpPr>
        <p:sp>
          <p:nvSpPr>
            <p:cNvPr id="44" name="AutoShape 4"/>
            <p:cNvSpPr/>
            <p:nvPr/>
          </p:nvSpPr>
          <p:spPr>
            <a:xfrm>
              <a:off x="381000" y="1231900"/>
              <a:ext cx="5541121" cy="1397000"/>
            </a:xfrm>
            <a:prstGeom prst="roundRect">
              <a:avLst>
                <a:gd name="adj" fmla="val 10909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5" name="AutoShape 5"/>
            <p:cNvSpPr/>
            <p:nvPr/>
          </p:nvSpPr>
          <p:spPr>
            <a:xfrm>
              <a:off x="634999" y="1422400"/>
              <a:ext cx="5127562" cy="1016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1" i="0" u="none" strike="noStrike" dirty="0">
                  <a:solidFill>
                    <a:srgbClr val="2DD4B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▍</a:t>
              </a:r>
              <a:r>
                <a:rPr lang="en-US" sz="1800" b="1" i="0" u="none" strike="noStrike" dirty="0" err="1">
                  <a:solidFill>
                    <a:srgbClr val="2DD4B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功能概述</a:t>
              </a:r>
              <a:endParaRPr lang="en-US" sz="1100" dirty="0"/>
            </a:p>
            <a:p>
              <a:pPr indent="0" algn="l">
                <a:lnSpc>
                  <a:spcPct val="116666"/>
                </a:lnSpc>
                <a:spcBef>
                  <a:spcPts val="800"/>
                </a:spcBef>
              </a:pPr>
              <a:r>
                <a:rPr lang="en-US" sz="1300" b="0" i="0" u="none" strike="noStrike" dirty="0" err="1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从DOCX</a:t>
              </a:r>
              <a:r>
                <a:rPr lang="zh-CN" altLang="en-US" sz="1300" b="0" i="0" u="none" strike="noStrike" dirty="0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、</a:t>
              </a:r>
              <a:r>
                <a:rPr lang="en-US" altLang="zh-CN" sz="1300" b="0" i="0" u="none" strike="noStrike" dirty="0" err="1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TXT</a:t>
              </a:r>
              <a:r>
                <a:rPr lang="en-US" sz="1300" b="0" i="0" u="none" strike="noStrike" dirty="0" err="1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等非结构化文档中，根据用户的自然语言描述或Excel模板，智能提取关键实体数据，并以结构化的JSON格式</a:t>
              </a:r>
              <a:r>
                <a:rPr lang="en-US" sz="1300" b="0" i="0" u="none" strike="noStrike" dirty="0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/XLSX</a:t>
              </a:r>
              <a:r>
                <a:rPr lang="zh-CN" altLang="en-US" sz="1300" b="0" i="0" u="none" strike="noStrike" dirty="0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格式</a:t>
              </a:r>
              <a:r>
                <a:rPr lang="en-US" sz="1300" b="0" i="0" u="none" strike="noStrike" dirty="0" err="1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输出，实现非结构化数据的资产化转换</a:t>
              </a:r>
              <a:r>
                <a:rPr lang="en-US" sz="1300" b="0" i="0" u="none" strike="noStrike" dirty="0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</a:p>
          </p:txBody>
        </p:sp>
      </p:grpSp>
      <p:pic>
        <p:nvPicPr>
          <p:cNvPr id="49" name="图片 48">
            <a:extLst>
              <a:ext uri="{FF2B5EF4-FFF2-40B4-BE49-F238E27FC236}">
                <a16:creationId xmlns:a16="http://schemas.microsoft.com/office/drawing/2014/main" id="{31C91A90-208C-6A8E-5DDA-26AE163DA6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3510" y="5304810"/>
            <a:ext cx="2896004" cy="552527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D24EC627-5B58-E1D0-CE5C-006F58BC013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38010" y="1407632"/>
            <a:ext cx="3561748" cy="2021368"/>
          </a:xfrm>
          <a:prstGeom prst="rect">
            <a:avLst/>
          </a:prstGeom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id="{8B2C583C-C64D-FD16-4F5C-F8862969FE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75263" y="4101568"/>
            <a:ext cx="3178897" cy="16176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452765" y="295943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实体提取</a:t>
            </a:r>
            <a:r>
              <a:rPr lang="en-US" sz="32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Agent</a:t>
            </a:r>
            <a:endParaRPr lang="en-US" sz="1100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36DAC326-15C4-C7EF-F035-CC56119E40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744" y="988034"/>
            <a:ext cx="7470151" cy="3516005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5C67E168-77C4-0E9C-4F9E-6A62DEE13E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0064" y="3991541"/>
            <a:ext cx="3702205" cy="2772267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CB77C2C4-A920-35C8-863A-C672F504D4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0198" y="4772528"/>
            <a:ext cx="5478697" cy="1918609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41EF9136-7E77-9F1E-7DB4-6F61196CBC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8255" y="94192"/>
            <a:ext cx="3631906" cy="385452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2C3AB27-077B-1DC1-652B-1276B11DF9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91176" y="90740"/>
            <a:ext cx="1813798" cy="49095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49300" y="670122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Excel数据筛选与填表</a:t>
            </a:r>
            <a:r>
              <a:rPr lang="en-US" sz="32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Agent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2240061"/>
            <a:ext cx="10668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430561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从 Excel 文件中根据用户的自然语言条件筛选数据行，并支持将筛选结果或提取的实体数据自动填入 Word/Excel 模板，打通数据处理与业务应用的“最后一公里”。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383061"/>
            <a:ext cx="2540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573561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3535461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智能筛选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4272061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精准解析用户的自然语言筛选条件，内置支持 14 种常用的数学与逻辑算子。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467100" y="3383061"/>
            <a:ext cx="2540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21100" y="3573561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229100" y="3535461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多条件组合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657600" y="4272061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支持复杂逻辑判断，轻松实现基于 AND / OR 逻辑的多维度、多条件组合筛选。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172200" y="3383061"/>
            <a:ext cx="2540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26200" y="3573561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934200" y="3535461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智能填表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62700" y="4272061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将筛选或提取的数据一键填入 Word 或 Excel 预设模板，实现业务报告的自动化生成。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877300" y="3383061"/>
            <a:ext cx="2540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31300" y="3573561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9639300" y="3535461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多表支持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067800" y="4272061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兼容性强，支持从多种格式中读取模板，包括 Word 表格和各类 Excel 工作表。</a:t>
            </a:r>
            <a:endParaRPr lang="en-US" sz="1100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9260CF7B-7849-51D4-A2E6-4897B9146A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38028" y="0"/>
            <a:ext cx="1813798" cy="4909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88F5290-0F88-C03E-79C6-ABD4E7066F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945"/>
          <a:stretch>
            <a:fillRect/>
          </a:stretch>
        </p:blipFill>
        <p:spPr>
          <a:xfrm>
            <a:off x="96799" y="85933"/>
            <a:ext cx="6672166" cy="391950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8D4C097-CBF9-FD5D-09C5-0F3DE2F03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46707"/>
            <a:ext cx="3052179" cy="2759412"/>
          </a:xfrm>
          <a:prstGeom prst="rect">
            <a:avLst/>
          </a:prstGeom>
        </p:spPr>
      </p:pic>
      <p:sp>
        <p:nvSpPr>
          <p:cNvPr id="6" name="AutoShape 7">
            <a:extLst>
              <a:ext uri="{FF2B5EF4-FFF2-40B4-BE49-F238E27FC236}">
                <a16:creationId xmlns:a16="http://schemas.microsoft.com/office/drawing/2014/main" id="{BD30691A-BD1F-E4E1-16A5-5BB5BB6CEE24}"/>
              </a:ext>
            </a:extLst>
          </p:cNvPr>
          <p:cNvSpPr/>
          <p:nvPr/>
        </p:nvSpPr>
        <p:spPr>
          <a:xfrm>
            <a:off x="8104267" y="467343"/>
            <a:ext cx="2920024" cy="939926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57E0F6AF-27AC-9A7F-EB78-2636BB5A1CAC}"/>
              </a:ext>
            </a:extLst>
          </p:cNvPr>
          <p:cNvSpPr/>
          <p:nvPr/>
        </p:nvSpPr>
        <p:spPr>
          <a:xfrm>
            <a:off x="8493374" y="467343"/>
            <a:ext cx="3176478" cy="93992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342900" indent="-342900">
              <a:lnSpc>
                <a:spcPct val="108333"/>
              </a:lnSpc>
              <a:buAutoNum type="arabicPeriod"/>
              <a:defRPr/>
            </a:pPr>
            <a:r>
              <a:rPr lang="zh-CN" altLang="en-US" dirty="0"/>
              <a:t>从非结构文本提取数据</a:t>
            </a:r>
            <a:endParaRPr lang="en-US" altLang="zh-CN" dirty="0"/>
          </a:p>
          <a:p>
            <a:pPr marL="342900" indent="-342900">
              <a:lnSpc>
                <a:spcPct val="108333"/>
              </a:lnSpc>
              <a:buAutoNum type="arabicPeriod"/>
              <a:defRPr/>
            </a:pPr>
            <a:r>
              <a:rPr lang="zh-CN" altLang="en-US" dirty="0"/>
              <a:t>从结构文本筛选数据</a:t>
            </a:r>
            <a:endParaRPr lang="en-US" altLang="zh-CN" dirty="0"/>
          </a:p>
          <a:p>
            <a:pPr marL="342900" indent="-342900">
              <a:lnSpc>
                <a:spcPct val="108333"/>
              </a:lnSpc>
              <a:buAutoNum type="arabicPeriod"/>
              <a:defRPr/>
            </a:pPr>
            <a:r>
              <a:rPr lang="zh-CN" altLang="en-US" dirty="0"/>
              <a:t>填入表格中</a:t>
            </a:r>
            <a:endParaRPr lang="en-US" altLang="zh-CN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D0DEBAC-FA97-4331-86E1-B8F5CB6390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187" y="1874068"/>
            <a:ext cx="5200665" cy="58770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DC67C4A-D876-DE25-C350-578880BBE4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9187" y="3346845"/>
            <a:ext cx="5519601" cy="371388"/>
          </a:xfrm>
          <a:prstGeom prst="rect">
            <a:avLst/>
          </a:prstGeom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616DC7D2-B83D-B830-19C9-3D9DD7FB3B0F}"/>
              </a:ext>
            </a:extLst>
          </p:cNvPr>
          <p:cNvCxnSpPr>
            <a:cxnSpLocks/>
          </p:cNvCxnSpPr>
          <p:nvPr/>
        </p:nvCxnSpPr>
        <p:spPr>
          <a:xfrm>
            <a:off x="8229599" y="4940029"/>
            <a:ext cx="0" cy="57879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utoShape 7">
            <a:extLst>
              <a:ext uri="{FF2B5EF4-FFF2-40B4-BE49-F238E27FC236}">
                <a16:creationId xmlns:a16="http://schemas.microsoft.com/office/drawing/2014/main" id="{C9D7BAC0-F548-1A0B-CA24-2B1AB03EC6FE}"/>
              </a:ext>
            </a:extLst>
          </p:cNvPr>
          <p:cNvSpPr/>
          <p:nvPr/>
        </p:nvSpPr>
        <p:spPr>
          <a:xfrm>
            <a:off x="8379770" y="5081758"/>
            <a:ext cx="838690" cy="29303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zh-CN" altLang="en-US" sz="1200" dirty="0"/>
              <a:t>筛选数据</a:t>
            </a:r>
            <a:endParaRPr lang="en-US" altLang="zh-CN" sz="1200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201F97B7-3FD0-4DFF-9CE3-B55B9C84B4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1285" y="4134333"/>
            <a:ext cx="7780605" cy="697071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C52E3708-6B6E-27C7-84DF-34D7514C13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6596" y="5625150"/>
            <a:ext cx="5086349" cy="1118552"/>
          </a:xfrm>
          <a:prstGeom prst="rect">
            <a:avLst/>
          </a:prstGeom>
        </p:spPr>
      </p:pic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68B1511B-274F-751B-3A2E-2C327915DEA2}"/>
              </a:ext>
            </a:extLst>
          </p:cNvPr>
          <p:cNvCxnSpPr>
            <a:cxnSpLocks/>
          </p:cNvCxnSpPr>
          <p:nvPr/>
        </p:nvCxnSpPr>
        <p:spPr>
          <a:xfrm>
            <a:off x="9030509" y="2563237"/>
            <a:ext cx="0" cy="57879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AutoShape 7">
            <a:extLst>
              <a:ext uri="{FF2B5EF4-FFF2-40B4-BE49-F238E27FC236}">
                <a16:creationId xmlns:a16="http://schemas.microsoft.com/office/drawing/2014/main" id="{ACB405C4-E508-07C8-2457-4BF0723BCE91}"/>
              </a:ext>
            </a:extLst>
          </p:cNvPr>
          <p:cNvSpPr/>
          <p:nvPr/>
        </p:nvSpPr>
        <p:spPr>
          <a:xfrm>
            <a:off x="9218460" y="2666588"/>
            <a:ext cx="838690" cy="29303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zh-CN" altLang="en-US" sz="1200" dirty="0"/>
              <a:t>提取数据</a:t>
            </a:r>
            <a:endParaRPr lang="en-US" altLang="zh-CN" sz="1200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1D4338D5-E057-EC50-A31C-8CD1E18AC08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38028" y="0"/>
            <a:ext cx="1813798" cy="49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251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2616329" y="458741"/>
            <a:ext cx="8153954" cy="736088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2917292" y="365148"/>
            <a:ext cx="7778878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▍功能概述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统一文档资产中心负责把用户上传的文件按空间管理起来，提供列表浏览、选择、下载、删除、批量删除等能力，同时把文档的元数据和存储位置记录到数据库里，供后续工作流处理直接复用。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325343" y="1652427"/>
            <a:ext cx="2417432" cy="1203388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513" y="1703147"/>
            <a:ext cx="355600" cy="355600"/>
          </a:xfrm>
          <a:prstGeom prst="rect">
            <a:avLst/>
          </a:prstGeom>
        </p:spPr>
      </p:pic>
      <p:grpSp>
        <p:nvGrpSpPr>
          <p:cNvPr id="29" name="组合 28">
            <a:extLst>
              <a:ext uri="{FF2B5EF4-FFF2-40B4-BE49-F238E27FC236}">
                <a16:creationId xmlns:a16="http://schemas.microsoft.com/office/drawing/2014/main" id="{22C33E07-233D-DED5-BD27-26FB9103822E}"/>
              </a:ext>
            </a:extLst>
          </p:cNvPr>
          <p:cNvGrpSpPr/>
          <p:nvPr/>
        </p:nvGrpSpPr>
        <p:grpSpPr>
          <a:xfrm>
            <a:off x="515842" y="1658885"/>
            <a:ext cx="2226933" cy="1352080"/>
            <a:chOff x="952500" y="4610100"/>
            <a:chExt cx="2159000" cy="1308100"/>
          </a:xfrm>
        </p:grpSpPr>
        <p:sp>
          <p:nvSpPr>
            <p:cNvPr id="10" name="AutoShape 10"/>
            <p:cNvSpPr/>
            <p:nvPr/>
          </p:nvSpPr>
          <p:spPr>
            <a:xfrm>
              <a:off x="1397000" y="4610100"/>
              <a:ext cx="1714500" cy="406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111827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集中管理层</a:t>
              </a:r>
              <a:endParaRPr lang="en-US" sz="1100"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952500" y="4838700"/>
              <a:ext cx="2159000" cy="1079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333"/>
                </a:lnSpc>
                <a:defRPr/>
              </a:pPr>
              <a:r>
                <a:rPr lang="en-US" sz="1200" b="0" i="0" u="none" strike="noStrike" dirty="0" err="1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解决文件分散在本地、云端、会话里的问题，实现统一的资产管理</a:t>
              </a:r>
              <a:r>
                <a:rPr lang="en-US" sz="1200" b="0" i="0" u="none" strike="noStrike" dirty="0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  <a:endParaRPr lang="en-US" sz="1100" dirty="0"/>
            </a:p>
          </p:txBody>
        </p:sp>
      </p:grpSp>
      <p:sp>
        <p:nvSpPr>
          <p:cNvPr id="12" name="AutoShape 12"/>
          <p:cNvSpPr/>
          <p:nvPr/>
        </p:nvSpPr>
        <p:spPr>
          <a:xfrm>
            <a:off x="313067" y="3252854"/>
            <a:ext cx="2417432" cy="1297959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7901" y="3346420"/>
            <a:ext cx="355600" cy="355600"/>
          </a:xfrm>
          <a:prstGeom prst="rect">
            <a:avLst/>
          </a:prstGeom>
        </p:spPr>
      </p:pic>
      <p:grpSp>
        <p:nvGrpSpPr>
          <p:cNvPr id="30" name="组合 29">
            <a:extLst>
              <a:ext uri="{FF2B5EF4-FFF2-40B4-BE49-F238E27FC236}">
                <a16:creationId xmlns:a16="http://schemas.microsoft.com/office/drawing/2014/main" id="{B0ED1D78-8BDE-9A97-4287-062F709DF703}"/>
              </a:ext>
            </a:extLst>
          </p:cNvPr>
          <p:cNvGrpSpPr/>
          <p:nvPr/>
        </p:nvGrpSpPr>
        <p:grpSpPr>
          <a:xfrm>
            <a:off x="510216" y="3441787"/>
            <a:ext cx="2159000" cy="1115794"/>
            <a:chOff x="3657600" y="4878652"/>
            <a:chExt cx="2159000" cy="1407848"/>
          </a:xfrm>
        </p:grpSpPr>
        <p:sp>
          <p:nvSpPr>
            <p:cNvPr id="14" name="AutoShape 14"/>
            <p:cNvSpPr/>
            <p:nvPr/>
          </p:nvSpPr>
          <p:spPr>
            <a:xfrm>
              <a:off x="4102100" y="4878652"/>
              <a:ext cx="1714500" cy="137848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600" b="1" i="0" u="none" strike="noStrike" dirty="0" err="1">
                  <a:solidFill>
                    <a:srgbClr val="111827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工作流输入源</a:t>
              </a:r>
              <a:endParaRPr lang="en-US" sz="1100" dirty="0"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3657600" y="5207000"/>
              <a:ext cx="2159000" cy="1079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333"/>
                </a:lnSpc>
                <a:defRPr/>
              </a:pPr>
              <a:r>
                <a:rPr lang="en-US" sz="1200" b="0" i="0" u="none" strike="noStrike" dirty="0" err="1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工作流编排可直接从文档库选文件处理，无需每次重新上传，提升效率</a:t>
              </a:r>
              <a:r>
                <a:rPr lang="en-US" sz="1200" b="0" i="0" u="none" strike="noStrike" dirty="0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  <a:endParaRPr lang="en-US" sz="1100" dirty="0"/>
            </a:p>
          </p:txBody>
        </p:sp>
      </p:grpSp>
      <p:sp>
        <p:nvSpPr>
          <p:cNvPr id="16" name="AutoShape 16"/>
          <p:cNvSpPr/>
          <p:nvPr/>
        </p:nvSpPr>
        <p:spPr>
          <a:xfrm>
            <a:off x="330969" y="4879732"/>
            <a:ext cx="2417432" cy="1297959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E007242C-A707-7761-ECE2-679458803D40}"/>
              </a:ext>
            </a:extLst>
          </p:cNvPr>
          <p:cNvGrpSpPr/>
          <p:nvPr/>
        </p:nvGrpSpPr>
        <p:grpSpPr>
          <a:xfrm>
            <a:off x="510216" y="4985991"/>
            <a:ext cx="2159000" cy="1191700"/>
            <a:chOff x="6362700" y="4610100"/>
            <a:chExt cx="2159000" cy="1676400"/>
          </a:xfrm>
        </p:grpSpPr>
        <p:pic>
          <p:nvPicPr>
            <p:cNvPr id="17" name="Picture 17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362700" y="4635500"/>
              <a:ext cx="355600" cy="355600"/>
            </a:xfrm>
            <a:prstGeom prst="rect">
              <a:avLst/>
            </a:prstGeom>
          </p:spPr>
        </p:pic>
        <p:sp>
          <p:nvSpPr>
            <p:cNvPr id="18" name="AutoShape 18"/>
            <p:cNvSpPr/>
            <p:nvPr/>
          </p:nvSpPr>
          <p:spPr>
            <a:xfrm>
              <a:off x="6807200" y="4610100"/>
              <a:ext cx="1714500" cy="406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600" b="1" i="0" u="none" strike="noStrike" dirty="0" err="1">
                  <a:solidFill>
                    <a:srgbClr val="111827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存储抽象层</a:t>
              </a:r>
              <a:endParaRPr lang="en-US" sz="1100" dirty="0"/>
            </a:p>
          </p:txBody>
        </p:sp>
        <p:sp>
          <p:nvSpPr>
            <p:cNvPr id="19" name="AutoShape 19"/>
            <p:cNvSpPr/>
            <p:nvPr/>
          </p:nvSpPr>
          <p:spPr>
            <a:xfrm>
              <a:off x="6362700" y="5207000"/>
              <a:ext cx="2159000" cy="1079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333"/>
                </a:lnSpc>
                <a:defRPr/>
              </a:pPr>
              <a:r>
                <a:rPr lang="en-US" sz="1200" b="0" i="0" u="none" strike="noStrike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支持本地保存和云存储（如Supabase），底层架构灵活，便于技术扩展。</a:t>
              </a:r>
              <a:endParaRPr lang="en-US" sz="1100"/>
            </a:p>
          </p:txBody>
        </p:sp>
      </p:grpSp>
      <p:sp>
        <p:nvSpPr>
          <p:cNvPr id="25" name="AutoShape 3">
            <a:extLst>
              <a:ext uri="{FF2B5EF4-FFF2-40B4-BE49-F238E27FC236}">
                <a16:creationId xmlns:a16="http://schemas.microsoft.com/office/drawing/2014/main" id="{7264E977-7805-8670-A5BF-66E29E643957}"/>
              </a:ext>
            </a:extLst>
          </p:cNvPr>
          <p:cNvSpPr/>
          <p:nvPr/>
        </p:nvSpPr>
        <p:spPr>
          <a:xfrm>
            <a:off x="606019" y="471128"/>
            <a:ext cx="1631396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374151"/>
                </a:solidFill>
                <a:latin typeface="Noto Sans SC"/>
                <a:ea typeface="Noto Sans SC"/>
                <a:sym typeface="Noto Sans SC"/>
              </a:rPr>
              <a:t>文档库</a:t>
            </a:r>
            <a:endParaRPr lang="en-US" sz="1100" dirty="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8F9BBCD6-2A1E-D1BA-BA32-447B8414A5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1647" y="1652427"/>
            <a:ext cx="9270132" cy="5193773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90A49373-EF9C-75E3-A907-810CE4E2B6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8028" y="0"/>
            <a:ext cx="1813798" cy="49095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工作流编排系统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334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76200" cy="1270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6764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功能概述</a:t>
            </a:r>
            <a:r>
              <a:rPr lang="en-US" sz="18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：“</a:t>
            </a:r>
            <a:r>
              <a:rPr lang="en-US" sz="18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搭积木”式自定义流水线</a:t>
            </a:r>
            <a:endParaRPr lang="en-US" sz="1100" dirty="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提供一个可视化的拖拽式工作流编辑器，无需编写代码，允许用户像“搭积木”一样，将不同的文档处理功能组合，自定义复杂的自动化处理流程。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3048000"/>
            <a:ext cx="2540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2004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33500" y="3175000"/>
            <a:ext cx="1841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可视化画布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6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支持节点的拖拽添加、自由排列和连线，直观呈现逻辑流向。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3556000" y="3048000"/>
            <a:ext cx="2540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08400" y="32004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127500" y="3175000"/>
            <a:ext cx="1841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丰富的节点类型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6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内置文档输入、AI 深度处理、格式转换、实体提取等多种功能节点。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4699000"/>
            <a:ext cx="2540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8514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333500" y="4826000"/>
            <a:ext cx="1841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动态配置面板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6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选中节点后，右侧面板动态加载参数，配置简单直观，所见即所得。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3556000" y="4699000"/>
            <a:ext cx="2540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08400" y="48514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4127500" y="4826000"/>
            <a:ext cx="1841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批处理支持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6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支持上传多个文件，一键批量执行同一个工作流，大幅提升处理效率。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B5409CEB-8A76-C788-70BC-EAB5268EE9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9999" y="1014125"/>
            <a:ext cx="5968001" cy="525422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AE386E28-6500-FA4E-A3AE-D8C97E980D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38028" y="0"/>
            <a:ext cx="1813798" cy="49095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3">
            <a:extLst>
              <a:ext uri="{FF2B5EF4-FFF2-40B4-BE49-F238E27FC236}">
                <a16:creationId xmlns:a16="http://schemas.microsoft.com/office/drawing/2014/main" id="{CF6979C6-3D00-D2A1-0957-484663B5F16F}"/>
              </a:ext>
            </a:extLst>
          </p:cNvPr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工作流编排系统</a:t>
            </a:r>
            <a:endParaRPr lang="en-US" sz="11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4E30572-B145-14B9-A028-16392CA7E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0562" y="1123054"/>
            <a:ext cx="2225272" cy="517648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8B7747C-4065-5FC2-EBDF-A1C9BAD0D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75" y="1503543"/>
            <a:ext cx="1900020" cy="223997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61DABBE-516A-73D6-BE89-E97E666760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2145" y="1503543"/>
            <a:ext cx="2141642" cy="479599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DA789B5-9A71-BE19-1C4F-938B4ECE64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1323" y="1453232"/>
            <a:ext cx="1929081" cy="185763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87FA410-7817-4DB0-8B92-16EC96A717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0109" y="2520880"/>
            <a:ext cx="2201056" cy="377866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699B048-4884-F269-7DA8-07233E01B6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8028" y="0"/>
            <a:ext cx="1813798" cy="49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2610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当前进度情况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349500"/>
          </a:xfrm>
          <a:prstGeom prst="roundRect">
            <a:avLst>
              <a:gd name="adj" fmla="val 4324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2349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2200" y="1905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879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✅ 前端开发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92200" y="2540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工作流编辑器：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完成节点配置面板、组件拖拽、画布连线优化、执行顺序调整等核心功能。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核心页面：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完成文档库、对话界面、文件管理页面的开发与修复。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6223000" y="1651000"/>
            <a:ext cx="5207000" cy="2349500"/>
          </a:xfrm>
          <a:prstGeom prst="roundRect">
            <a:avLst>
              <a:gd name="adj" fmla="val 4324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223000" y="1651000"/>
            <a:ext cx="76200" cy="2349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53200" y="1905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985000" y="1879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✅ 后端开发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553200" y="2540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基础框架：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完成FastAPI基础框架搭建，包括路由、中间件、Swagger文档等。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核心服务：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完成工作流执行调度、数据库集成、认证系统、文件存储集成。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4254500"/>
            <a:ext cx="5207000" cy="2349500"/>
          </a:xfrm>
          <a:prstGeom prst="roundRect">
            <a:avLst>
              <a:gd name="adj" fmla="val 4324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62000" y="4254500"/>
            <a:ext cx="76200" cy="2349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2200" y="4508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24000" y="44831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✅ Agent 开发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92200" y="5080000"/>
            <a:ext cx="457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A(文档编辑):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8项Word编辑功能及指令解析流水线 |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B(实体提取):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多线程并发及Excel模板引导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C(数据存储):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数据入库、状态管理与审计日志 |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D(筛选填表):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Excel筛选及Word/Excel模板填表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223000" y="4254500"/>
            <a:ext cx="5207000" cy="2349500"/>
          </a:xfrm>
          <a:prstGeom prst="roundRect">
            <a:avLst>
              <a:gd name="adj" fmla="val 4324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223000" y="4254500"/>
            <a:ext cx="76200" cy="2349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53200" y="4508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985000" y="44831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✅ 测试验证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553200" y="51435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单元测试：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 Agent A/B/D 核心功能的单元测试，确保单个模块逻辑正确。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集成测试：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完成端到端工作流执行验证，确保前后端接口联调通畅、数据流转正常。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83B8727F-9381-8F81-C897-340D24E639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38028" y="0"/>
            <a:ext cx="1813798" cy="49095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00143" y="317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后续工作计划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635540" y="1669104"/>
            <a:ext cx="3677056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302000" cy="762000"/>
          </a:xfrm>
          <a:prstGeom prst="roundRect">
            <a:avLst>
              <a:gd name="adj" fmla="val 2000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19558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19050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剩余任务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1308100" y="2667000"/>
            <a:ext cx="2174402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spcAft>
                <a:spcPts val="1200"/>
              </a:spcAft>
              <a:defRPr/>
            </a:pPr>
            <a:r>
              <a:rPr lang="zh-CN" altLang="en-US" sz="1500" b="1" dirty="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修</a:t>
            </a:r>
            <a:r>
              <a:rPr lang="en-US" altLang="zh-CN" sz="1500" b="1" dirty="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Bug</a:t>
            </a:r>
          </a:p>
          <a:p>
            <a:pPr indent="0" algn="l">
              <a:lnSpc>
                <a:spcPct val="108333"/>
              </a:lnSpc>
              <a:spcAft>
                <a:spcPts val="1200"/>
              </a:spcAft>
              <a:defRPr/>
            </a:pPr>
            <a:r>
              <a:rPr lang="zh-CN" altLang="en-US" sz="1500" b="1" dirty="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补全工作流</a:t>
            </a:r>
            <a:r>
              <a:rPr lang="en-US" altLang="zh-CN" sz="1500" b="1" dirty="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Processor</a:t>
            </a:r>
          </a:p>
          <a:p>
            <a:pPr indent="0" algn="l">
              <a:lnSpc>
                <a:spcPct val="108333"/>
              </a:lnSpc>
              <a:spcAft>
                <a:spcPts val="1200"/>
              </a:spcAft>
              <a:defRPr/>
            </a:pPr>
            <a:r>
              <a:rPr lang="zh-CN" altLang="en-US" sz="1500" b="1" dirty="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完善节点功能</a:t>
            </a:r>
            <a:endParaRPr lang="en-US" altLang="zh-CN" sz="1500" b="1" dirty="0">
              <a:solidFill>
                <a:srgbClr val="0D9488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333"/>
              </a:lnSpc>
              <a:spcAft>
                <a:spcPts val="1200"/>
              </a:spcAft>
              <a:defRPr/>
            </a:pPr>
            <a:r>
              <a:rPr lang="zh-CN" altLang="en-US" sz="1500" b="1" dirty="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完善文档库</a:t>
            </a:r>
            <a:endParaRPr lang="en-US" altLang="zh-CN" sz="1500" b="1" dirty="0">
              <a:solidFill>
                <a:srgbClr val="0D9488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333"/>
              </a:lnSpc>
              <a:spcAft>
                <a:spcPts val="1200"/>
              </a:spcAft>
              <a:defRPr/>
            </a:pPr>
            <a:r>
              <a:rPr lang="zh-CN" altLang="en-US" sz="1500" b="1" dirty="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进行系统性能优化</a:t>
            </a:r>
            <a:endParaRPr lang="en-US" altLang="zh-CN" sz="1500" b="1" dirty="0">
              <a:solidFill>
                <a:srgbClr val="0D9488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333"/>
              </a:lnSpc>
              <a:spcAft>
                <a:spcPts val="1200"/>
              </a:spcAft>
              <a:defRPr/>
            </a:pPr>
            <a:r>
              <a:rPr lang="zh-CN" altLang="en-US" sz="1500" b="1" dirty="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增加批处理功能</a:t>
            </a:r>
            <a:endParaRPr lang="en-US" altLang="zh-CN" sz="1500" b="1" dirty="0">
              <a:solidFill>
                <a:srgbClr val="0D9488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333"/>
              </a:lnSpc>
              <a:spcAft>
                <a:spcPts val="1200"/>
              </a:spcAft>
              <a:defRPr/>
            </a:pPr>
            <a:r>
              <a:rPr lang="zh-CN" altLang="en-US" sz="1500" b="1" dirty="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提升用户交互体验</a:t>
            </a:r>
            <a:endParaRPr lang="en-US" altLang="zh-CN" sz="1500" b="1" dirty="0">
              <a:solidFill>
                <a:srgbClr val="0D9488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333"/>
              </a:lnSpc>
              <a:spcAft>
                <a:spcPts val="1200"/>
              </a:spcAft>
              <a:defRPr/>
            </a:pPr>
            <a:r>
              <a:rPr lang="zh-CN" altLang="en-US" sz="1500" b="1" dirty="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完善</a:t>
            </a:r>
            <a:r>
              <a:rPr lang="en-US" altLang="zh-CN" sz="1500" b="1" dirty="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Agent</a:t>
            </a:r>
            <a:r>
              <a:rPr lang="zh-CN" altLang="en-US" sz="1500" b="1" dirty="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功能</a:t>
            </a:r>
            <a:endParaRPr lang="en-US" altLang="zh-CN" sz="1500" b="1" dirty="0">
              <a:solidFill>
                <a:srgbClr val="0D948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678429FA-F403-8E94-8397-2A41CD9E6B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8028" y="0"/>
            <a:ext cx="1813798" cy="49095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763</Words>
  <Application>Microsoft Office PowerPoint</Application>
  <PresentationFormat>宽屏</PresentationFormat>
  <Paragraphs>200</Paragraphs>
  <Slides>17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xing xing</cp:lastModifiedBy>
  <cp:revision>9</cp:revision>
  <dcterms:modified xsi:type="dcterms:W3CDTF">2026-05-18T15:38:10Z</dcterms:modified>
</cp:coreProperties>
</file>